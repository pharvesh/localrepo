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B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Large Language Models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Architectures · Dimensions · Vulnerabilities · Benchmarks · Metrics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42032"/>
            <a:ext cx="6400800" cy="36576"/>
          </a:xfrm>
          <a:prstGeom prst="rect">
            <a:avLst/>
          </a:prstGeom>
          <a:solidFill>
            <a:srgbClr val="FFBF0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697480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1B998B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97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🖼  Vision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2697480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1B998B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2697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📝  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2697480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1B998B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2697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🎵  Audio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2697480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1B998B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697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🎬  Video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2697480"/>
            <a:ext cx="1463040" cy="365760"/>
          </a:xfrm>
          <a:prstGeom prst="roundRect">
            <a:avLst>
              <a:gd name="adj" fmla="val 17500"/>
            </a:avLst>
          </a:prstGeom>
          <a:solidFill>
            <a:srgbClr val="1B998B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697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📄  Docs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F00"/>
                </a:solidFill>
              </a:rPr>
              <a:t>Agenda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E3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2044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</a:rPr>
              <a:t>1. MLLM Architecture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691640" y="352044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E3A4A"/>
          </a:solidFill>
          <a:ln/>
        </p:spPr>
      </p:sp>
      <p:sp>
        <p:nvSpPr>
          <p:cNvPr id="22" name="Text 20"/>
          <p:cNvSpPr/>
          <p:nvPr/>
        </p:nvSpPr>
        <p:spPr>
          <a:xfrm>
            <a:off x="1691640" y="352044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</a:rPr>
              <a:t>2. Evaluation Dimensions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26080" y="352044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E3A4A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352044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</a:rPr>
              <a:t>3. Hallucination Deep-Dive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60520" y="352044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E3A4A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352044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</a:rPr>
              <a:t>4. Attack Surfaces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394960" y="352044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E3A4A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352044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</a:rPr>
              <a:t>5. Benchmarks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629400" y="352044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E3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352044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</a:rPr>
              <a:t>6. Metrics &amp; Tools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863840" y="352044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E3A4A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352044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</a:rPr>
              <a:t>7. Open Challenges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45262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Sources: arXiv:2408.08632 · arXiv:2404.18930 · MME · MMReason · Video-MME · MME-RealWorld · MMJ-Bench · ATLAS 2025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 Architecture — A Deep Look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177800" rIns="1778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 MLLM extends a pre-trained LLM with modality-specific encoders and cross-modal projectors, enabling joint understanding and reasoning over text, images, audio, and video within a single unified transformer backbone.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90472"/>
            <a:ext cx="202996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90472"/>
            <a:ext cx="2029968" cy="34747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49047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 Modalities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90195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2FBE"/>
                </a:solidFill>
              </a:rPr>
              <a:t>Image · Video · Audio · Text · Document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inputs tokenized per modality. Images → patches via ViT. Audio → mel-spectrograms via Whisper encoder. Documents → OCR+layout tokens.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04288" y="2587752"/>
            <a:ext cx="146304" cy="54864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2" name="Shape 10"/>
          <p:cNvSpPr/>
          <p:nvPr/>
        </p:nvSpPr>
        <p:spPr>
          <a:xfrm>
            <a:off x="2450592" y="1490472"/>
            <a:ext cx="202996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490472"/>
            <a:ext cx="2029968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4" name="Text 12"/>
          <p:cNvSpPr/>
          <p:nvPr/>
        </p:nvSpPr>
        <p:spPr>
          <a:xfrm>
            <a:off x="2450592" y="149047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Modality Encoders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23744" y="190195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998B"/>
                </a:solidFill>
              </a:rPr>
              <a:t>ViT · CLIP · Whisper · etc.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42032" y="2212848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or fine-tuned pretrained unimodal encoders extract dense feature representations: visual tokens, audio embeddings, etc.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2587752"/>
            <a:ext cx="146304" cy="54864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8" name="Shape 16"/>
          <p:cNvSpPr/>
          <p:nvPr/>
        </p:nvSpPr>
        <p:spPr>
          <a:xfrm>
            <a:off x="4626864" y="1490472"/>
            <a:ext cx="202996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490472"/>
            <a:ext cx="2029968" cy="347472"/>
          </a:xfrm>
          <a:prstGeom prst="rect">
            <a:avLst/>
          </a:prstGeom>
          <a:solidFill>
            <a:srgbClr val="FFBF00"/>
          </a:solidFill>
          <a:ln/>
        </p:spPr>
      </p:sp>
      <p:sp>
        <p:nvSpPr>
          <p:cNvPr id="20" name="Text 18"/>
          <p:cNvSpPr/>
          <p:nvPr/>
        </p:nvSpPr>
        <p:spPr>
          <a:xfrm>
            <a:off x="4626864" y="149047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Cross-modal Projector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0016" y="190195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F00"/>
                </a:solidFill>
              </a:rPr>
              <a:t>Q-Former · MLP · Cross-Attn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18304" y="2212848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encoder outputs into the LLM's embedding space. Q-Former (BLIP-2) uses learned queries; MLP projectors offer simpler alignment (LLaVA style).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56832" y="2587752"/>
            <a:ext cx="146304" cy="54864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4" name="Shape 22"/>
          <p:cNvSpPr/>
          <p:nvPr/>
        </p:nvSpPr>
        <p:spPr>
          <a:xfrm>
            <a:off x="6803136" y="1490472"/>
            <a:ext cx="202996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1490472"/>
            <a:ext cx="2029968" cy="34747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6803136" y="149047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LLM Backbone + Head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76288" y="190195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LLaMA · Mistral · GPT · Gemini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94576" y="2212848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reasons jointly over all multimodal tokens. Generates text output autoregressively. May also output images/audio in omni models.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959352"/>
            <a:ext cx="8595360" cy="658368"/>
          </a:xfrm>
          <a:prstGeom prst="rect">
            <a:avLst/>
          </a:prstGeom>
          <a:solidFill>
            <a:srgbClr val="2B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39959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F00"/>
                </a:solidFill>
              </a:rPr>
              <a:t>Training Pipeline: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737360" y="4050792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1E3A4A"/>
          </a:solidFill>
          <a:ln/>
        </p:spPr>
      </p:sp>
      <p:sp>
        <p:nvSpPr>
          <p:cNvPr id="32" name="Text 30"/>
          <p:cNvSpPr/>
          <p:nvPr/>
        </p:nvSpPr>
        <p:spPr>
          <a:xfrm>
            <a:off x="1737360" y="4050792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</a:rPr>
              <a:t>1. Pretrain encoders on unimodal data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02152" y="4050792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1E3A4A"/>
          </a:solidFill>
          <a:ln/>
        </p:spPr>
      </p:sp>
      <p:sp>
        <p:nvSpPr>
          <p:cNvPr id="34" name="Text 32"/>
          <p:cNvSpPr/>
          <p:nvPr/>
        </p:nvSpPr>
        <p:spPr>
          <a:xfrm>
            <a:off x="3502152" y="4050792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</a:rPr>
              <a:t>2. Projector alignment (freeze LLM)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66944" y="4050792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1E3A4A"/>
          </a:solidFill>
          <a:ln/>
        </p:spPr>
      </p:sp>
      <p:sp>
        <p:nvSpPr>
          <p:cNvPr id="36" name="Text 34"/>
          <p:cNvSpPr/>
          <p:nvPr/>
        </p:nvSpPr>
        <p:spPr>
          <a:xfrm>
            <a:off x="5266944" y="4050792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</a:rPr>
              <a:t>3. Instruction-tuning on multimodal pairs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31736" y="4050792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1E3A4A"/>
          </a:solidFill>
          <a:ln/>
        </p:spPr>
      </p:sp>
      <p:sp>
        <p:nvSpPr>
          <p:cNvPr id="38" name="Text 36"/>
          <p:cNvSpPr/>
          <p:nvPr/>
        </p:nvSpPr>
        <p:spPr>
          <a:xfrm>
            <a:off x="7031736" y="4050792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</a:rPr>
              <a:t>4. RLHF / DPO for alignment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arXiv:2408.08632 · arXiv:2404.18930 — Hallucination of MLLMs (architecture section)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MLLM Taxonomy — Modalities, Tasks &amp; Representative Models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29968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029968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Image-Text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998B"/>
                </a:solidFill>
              </a:rPr>
              <a:t>Tasks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1828800" cy="25603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Visual QA (VQA)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1828800" cy="2560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Image Captioning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1828800" cy="25603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066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Scene Understanding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1828800" cy="2560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OCR &amp; Document QA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688336"/>
            <a:ext cx="1828800" cy="25603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688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Visual Grounding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999232"/>
            <a:ext cx="1828800" cy="2560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999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Object Detection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998B"/>
                </a:solidFill>
              </a:rPr>
              <a:t>Models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1B998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566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GPT-4V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261872" y="356616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1B998B"/>
          </a:solidFill>
          <a:ln/>
        </p:spPr>
      </p:sp>
      <p:sp>
        <p:nvSpPr>
          <p:cNvPr id="24" name="Text 22"/>
          <p:cNvSpPr/>
          <p:nvPr/>
        </p:nvSpPr>
        <p:spPr>
          <a:xfrm>
            <a:off x="1261872" y="3566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LLaVA-1.6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867912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1B998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867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InternVL2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261872" y="3867912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1B998B"/>
          </a:solidFill>
          <a:ln/>
        </p:spPr>
      </p:sp>
      <p:sp>
        <p:nvSpPr>
          <p:cNvPr id="28" name="Text 26"/>
          <p:cNvSpPr/>
          <p:nvPr/>
        </p:nvSpPr>
        <p:spPr>
          <a:xfrm>
            <a:off x="1261872" y="3867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Qwen-VL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450592" y="777240"/>
            <a:ext cx="2029968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50592" y="777240"/>
            <a:ext cx="2029968" cy="34747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1" name="Text 29"/>
          <p:cNvSpPr/>
          <p:nvPr/>
        </p:nvSpPr>
        <p:spPr>
          <a:xfrm>
            <a:off x="2450592" y="77724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Video-Text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542032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BE"/>
                </a:solidFill>
              </a:rPr>
              <a:t>Tasks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42032" y="1444752"/>
            <a:ext cx="1828800" cy="25603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4" name="Text 32"/>
          <p:cNvSpPr/>
          <p:nvPr/>
        </p:nvSpPr>
        <p:spPr>
          <a:xfrm>
            <a:off x="2587752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Video QA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42032" y="1755648"/>
            <a:ext cx="1828800" cy="2560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36" name="Text 34"/>
          <p:cNvSpPr/>
          <p:nvPr/>
        </p:nvSpPr>
        <p:spPr>
          <a:xfrm>
            <a:off x="2587752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Temporal Reasoning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42032" y="2066544"/>
            <a:ext cx="1828800" cy="25603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8" name="Text 36"/>
          <p:cNvSpPr/>
          <p:nvPr/>
        </p:nvSpPr>
        <p:spPr>
          <a:xfrm>
            <a:off x="2587752" y="2066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Action Recognition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42032" y="2377440"/>
            <a:ext cx="1828800" cy="2560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40" name="Text 38"/>
          <p:cNvSpPr/>
          <p:nvPr/>
        </p:nvSpPr>
        <p:spPr>
          <a:xfrm>
            <a:off x="2587752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Long-video Understanding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42032" y="2688336"/>
            <a:ext cx="1828800" cy="25603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2" name="Text 40"/>
          <p:cNvSpPr/>
          <p:nvPr/>
        </p:nvSpPr>
        <p:spPr>
          <a:xfrm>
            <a:off x="2587752" y="2688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Dense Captioning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42032" y="2999232"/>
            <a:ext cx="1828800" cy="2560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44" name="Text 42"/>
          <p:cNvSpPr/>
          <p:nvPr/>
        </p:nvSpPr>
        <p:spPr>
          <a:xfrm>
            <a:off x="2587752" y="2999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Event Detection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42032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BE"/>
                </a:solidFill>
              </a:rPr>
              <a:t>Models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542032" y="356616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7B2FBE"/>
          </a:solidFill>
          <a:ln/>
        </p:spPr>
      </p:sp>
      <p:sp>
        <p:nvSpPr>
          <p:cNvPr id="47" name="Text 45"/>
          <p:cNvSpPr/>
          <p:nvPr/>
        </p:nvSpPr>
        <p:spPr>
          <a:xfrm>
            <a:off x="2542032" y="3566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Video-LLaMA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438144" y="356616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7B2FBE"/>
          </a:solidFill>
          <a:ln/>
        </p:spPr>
      </p:sp>
      <p:sp>
        <p:nvSpPr>
          <p:cNvPr id="49" name="Text 47"/>
          <p:cNvSpPr/>
          <p:nvPr/>
        </p:nvSpPr>
        <p:spPr>
          <a:xfrm>
            <a:off x="3438144" y="3566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PLLaVA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42032" y="3867912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7B2FBE"/>
          </a:solidFill>
          <a:ln/>
        </p:spPr>
      </p:sp>
      <p:sp>
        <p:nvSpPr>
          <p:cNvPr id="51" name="Text 49"/>
          <p:cNvSpPr/>
          <p:nvPr/>
        </p:nvSpPr>
        <p:spPr>
          <a:xfrm>
            <a:off x="2542032" y="3867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MiniGPT4-Video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438144" y="3867912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7B2FBE"/>
          </a:solidFill>
          <a:ln/>
        </p:spPr>
      </p:sp>
      <p:sp>
        <p:nvSpPr>
          <p:cNvPr id="53" name="Text 51"/>
          <p:cNvSpPr/>
          <p:nvPr/>
        </p:nvSpPr>
        <p:spPr>
          <a:xfrm>
            <a:off x="3438144" y="3867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GPT-4o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26864" y="777240"/>
            <a:ext cx="2029968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26864" y="777240"/>
            <a:ext cx="2029968" cy="347472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56" name="Text 54"/>
          <p:cNvSpPr/>
          <p:nvPr/>
        </p:nvSpPr>
        <p:spPr>
          <a:xfrm>
            <a:off x="4626864" y="77724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Audio-Text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718304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7F00"/>
                </a:solidFill>
              </a:rPr>
              <a:t>Tasks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18304" y="1444752"/>
            <a:ext cx="1828800" cy="25603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59" name="Text 57"/>
          <p:cNvSpPr/>
          <p:nvPr/>
        </p:nvSpPr>
        <p:spPr>
          <a:xfrm>
            <a:off x="4764024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Speech Recognition (ASR)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18304" y="1755648"/>
            <a:ext cx="1828800" cy="2560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61" name="Text 59"/>
          <p:cNvSpPr/>
          <p:nvPr/>
        </p:nvSpPr>
        <p:spPr>
          <a:xfrm>
            <a:off x="4764024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Audio QA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18304" y="2066544"/>
            <a:ext cx="1828800" cy="25603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63" name="Text 61"/>
          <p:cNvSpPr/>
          <p:nvPr/>
        </p:nvSpPr>
        <p:spPr>
          <a:xfrm>
            <a:off x="4764024" y="2066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Sound Classification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18304" y="2377440"/>
            <a:ext cx="1828800" cy="2560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65" name="Text 63"/>
          <p:cNvSpPr/>
          <p:nvPr/>
        </p:nvSpPr>
        <p:spPr>
          <a:xfrm>
            <a:off x="4764024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Speaker Identification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18304" y="2688336"/>
            <a:ext cx="1828800" cy="25603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67" name="Text 65"/>
          <p:cNvSpPr/>
          <p:nvPr/>
        </p:nvSpPr>
        <p:spPr>
          <a:xfrm>
            <a:off x="4764024" y="2688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Emotion Detection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18304" y="2999232"/>
            <a:ext cx="1828800" cy="2560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69" name="Text 67"/>
          <p:cNvSpPr/>
          <p:nvPr/>
        </p:nvSpPr>
        <p:spPr>
          <a:xfrm>
            <a:off x="4764024" y="2999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Music Analysis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718304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7F00"/>
                </a:solidFill>
              </a:rPr>
              <a:t>Models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718304" y="356616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77F00"/>
          </a:solidFill>
          <a:ln/>
        </p:spPr>
      </p:sp>
      <p:sp>
        <p:nvSpPr>
          <p:cNvPr id="72" name="Text 70"/>
          <p:cNvSpPr/>
          <p:nvPr/>
        </p:nvSpPr>
        <p:spPr>
          <a:xfrm>
            <a:off x="4718304" y="3566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Gemini 1.5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614416" y="356616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77F00"/>
          </a:solidFill>
          <a:ln/>
        </p:spPr>
      </p:sp>
      <p:sp>
        <p:nvSpPr>
          <p:cNvPr id="74" name="Text 72"/>
          <p:cNvSpPr/>
          <p:nvPr/>
        </p:nvSpPr>
        <p:spPr>
          <a:xfrm>
            <a:off x="5614416" y="3566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Whisper-LLM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718304" y="3867912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77F00"/>
          </a:solidFill>
          <a:ln/>
        </p:spPr>
      </p:sp>
      <p:sp>
        <p:nvSpPr>
          <p:cNvPr id="76" name="Text 74"/>
          <p:cNvSpPr/>
          <p:nvPr/>
        </p:nvSpPr>
        <p:spPr>
          <a:xfrm>
            <a:off x="4718304" y="3867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SALMONN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614416" y="3867912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77F00"/>
          </a:solidFill>
          <a:ln/>
        </p:spPr>
      </p:sp>
      <p:sp>
        <p:nvSpPr>
          <p:cNvPr id="78" name="Text 76"/>
          <p:cNvSpPr/>
          <p:nvPr/>
        </p:nvSpPr>
        <p:spPr>
          <a:xfrm>
            <a:off x="5614416" y="3867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Qwen-Audio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803136" y="777240"/>
            <a:ext cx="2029968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803136" y="777240"/>
            <a:ext cx="2029968" cy="34747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1" name="Text 79"/>
          <p:cNvSpPr/>
          <p:nvPr/>
        </p:nvSpPr>
        <p:spPr>
          <a:xfrm>
            <a:off x="6803136" y="77724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Omni / Multi</a:t>
            </a:r>
            <a:endParaRPr lang="en-US" sz="1150" dirty="0"/>
          </a:p>
        </p:txBody>
      </p:sp>
      <p:sp>
        <p:nvSpPr>
          <p:cNvPr id="82" name="Text 80"/>
          <p:cNvSpPr/>
          <p:nvPr/>
        </p:nvSpPr>
        <p:spPr>
          <a:xfrm>
            <a:off x="6894576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</a:rPr>
              <a:t>Tasks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894576" y="1444752"/>
            <a:ext cx="1828800" cy="25603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84" name="Text 82"/>
          <p:cNvSpPr/>
          <p:nvPr/>
        </p:nvSpPr>
        <p:spPr>
          <a:xfrm>
            <a:off x="6940296" y="14447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Cross-modal Reasoning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894576" y="1755648"/>
            <a:ext cx="1828800" cy="2560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86" name="Text 84"/>
          <p:cNvSpPr/>
          <p:nvPr/>
        </p:nvSpPr>
        <p:spPr>
          <a:xfrm>
            <a:off x="6940296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Multi-image Comparison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894576" y="2066544"/>
            <a:ext cx="1828800" cy="25603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88" name="Text 86"/>
          <p:cNvSpPr/>
          <p:nvPr/>
        </p:nvSpPr>
        <p:spPr>
          <a:xfrm>
            <a:off x="6940296" y="2066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AV Alignment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894576" y="2377440"/>
            <a:ext cx="1828800" cy="2560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90" name="Text 88"/>
          <p:cNvSpPr/>
          <p:nvPr/>
        </p:nvSpPr>
        <p:spPr>
          <a:xfrm>
            <a:off x="6940296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Document+Image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894576" y="2688336"/>
            <a:ext cx="1828800" cy="25603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92" name="Text 90"/>
          <p:cNvSpPr/>
          <p:nvPr/>
        </p:nvSpPr>
        <p:spPr>
          <a:xfrm>
            <a:off x="6940296" y="2688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Code+Visual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894576" y="2999232"/>
            <a:ext cx="1828800" cy="25603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94" name="Text 92"/>
          <p:cNvSpPr/>
          <p:nvPr/>
        </p:nvSpPr>
        <p:spPr>
          <a:xfrm>
            <a:off x="6940296" y="2999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• Embodied QA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6894576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</a:rPr>
              <a:t>Models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894576" y="356616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F6B6B"/>
          </a:solidFill>
          <a:ln/>
        </p:spPr>
      </p:sp>
      <p:sp>
        <p:nvSpPr>
          <p:cNvPr id="97" name="Text 95"/>
          <p:cNvSpPr/>
          <p:nvPr/>
        </p:nvSpPr>
        <p:spPr>
          <a:xfrm>
            <a:off x="6894576" y="3566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GPT-4o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790688" y="356616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F6B6B"/>
          </a:solidFill>
          <a:ln/>
        </p:spPr>
      </p:sp>
      <p:sp>
        <p:nvSpPr>
          <p:cNvPr id="99" name="Text 97"/>
          <p:cNvSpPr/>
          <p:nvPr/>
        </p:nvSpPr>
        <p:spPr>
          <a:xfrm>
            <a:off x="7790688" y="3566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Gemini 1.5 Pro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894576" y="3867912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F6B6B"/>
          </a:solidFill>
          <a:ln/>
        </p:spPr>
      </p:sp>
      <p:sp>
        <p:nvSpPr>
          <p:cNvPr id="101" name="Text 99"/>
          <p:cNvSpPr/>
          <p:nvPr/>
        </p:nvSpPr>
        <p:spPr>
          <a:xfrm>
            <a:off x="6894576" y="3867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Claude 3.5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7790688" y="3867912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F6B6B"/>
          </a:solidFill>
          <a:ln/>
        </p:spPr>
      </p:sp>
      <p:sp>
        <p:nvSpPr>
          <p:cNvPr id="103" name="Text 101"/>
          <p:cNvSpPr/>
          <p:nvPr/>
        </p:nvSpPr>
        <p:spPr>
          <a:xfrm>
            <a:off x="7790688" y="38679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Cambrian-1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arXiv:2408.08632 (covers 200+ benchmarks across these modality/task categories)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Dimensions — What Should We Measure?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16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57200" cy="121615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4572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896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998B"/>
                </a:solidFill>
              </a:rPr>
              <a:t>Perception &amp; Understanding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Coarse-grained: object detection, scene recognition, counting, color. Fine-grained: spatial relationships, attribute binding, OCR, celebrity recognition. Benchmark: MME (14 subtasks), Q-Bench (low-level perception).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216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457200" cy="121615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822960"/>
            <a:ext cx="4572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7800" y="896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FBE"/>
                </a:solidFill>
              </a:rPr>
              <a:t>Cognition &amp; Reasoning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57800" y="1188720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Commonsense, numerical, causal and logical reasoning. Math problem-solving from diagrams (MathVista, MathVerse). Knowledge-intensive QA requiring external world knowledge.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4206240" cy="1216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76272"/>
            <a:ext cx="457200" cy="1216152"/>
          </a:xfrm>
          <a:prstGeom prst="rect">
            <a:avLst/>
          </a:prstGeom>
          <a:solidFill>
            <a:srgbClr val="FFBF0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176272"/>
            <a:ext cx="4572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2249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F00"/>
                </a:solidFill>
              </a:rPr>
              <a:t>Cross-modal Reasoning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254203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cues across modalities — e.g., answering a question only answerable by combining text + image information. Forced open-ended (no MCQ answer choices): MMReason (ICCV 2025), DEMON, VisIT-Bench.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176272"/>
            <a:ext cx="4206240" cy="1216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76272"/>
            <a:ext cx="457200" cy="1216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176272"/>
            <a:ext cx="4572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57800" y="2249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6B"/>
                </a:solidFill>
              </a:rPr>
              <a:t>Hallucination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57800" y="254203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Object-level (existence, count), attribute-level (color, size, shape), scene-level (relationships), and factual hallucination. Benchmarks: POPE, HallusionBench, AMBER (LLM-free), FREAK (fine-grained), VHTest.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29584"/>
            <a:ext cx="4206240" cy="1216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29584"/>
            <a:ext cx="457200" cy="1216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529584"/>
            <a:ext cx="4572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3602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</a:rPr>
              <a:t>Robustness &amp; Reliability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" y="3895344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under adversarial perturbations (PGD, APGD, CW), image corruptions (blur, noise, JPEG), distribution shift, leading/misleading questions. Benchmarks: MMR, MM-SpuBench, MME-RealWorld.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529584"/>
            <a:ext cx="4206240" cy="1216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529584"/>
            <a:ext cx="457200" cy="1216152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3529584"/>
            <a:ext cx="4572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257800" y="3602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7F00"/>
                </a:solidFill>
              </a:rPr>
              <a:t>Instruction Following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57800" y="3895344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follow complex multi-step instructions with visual context. Zero-shot demonstrative instructions. Benchmarks: VisIT-Bench, DEMON, MM-Vet (integrated capabilities), GAVIE.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MME (NeurIPS 2025) · MMReason (ICCV 2025) · POPE (EMNLP 2023) · arXiv:2408.08632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in MLLMs — A Layered Taxonomy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2828"/>
                </a:solidFill>
              </a:rPr>
              <a:t>Faithfulness Hallucination (output inconsistent with visual input)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280160" cy="171907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15568"/>
            <a:ext cx="1280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Object-Level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1115568"/>
            <a:ext cx="717804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8" name="Shape 6"/>
          <p:cNvSpPr/>
          <p:nvPr/>
        </p:nvSpPr>
        <p:spPr>
          <a:xfrm>
            <a:off x="1691640" y="1115568"/>
            <a:ext cx="1188720" cy="347472"/>
          </a:xfrm>
          <a:prstGeom prst="rect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709928" y="111556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Existence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99232" y="11521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Model asserts presence of objects not in the image. Most common type. Measured by POPE (yes/no existence questions).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91640" y="1499616"/>
            <a:ext cx="7178040" cy="34747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1640" y="1499616"/>
            <a:ext cx="1188720" cy="347472"/>
          </a:xfrm>
          <a:prstGeom prst="rect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709928" y="1499616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Attribute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99232" y="15361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Correct object identified but wrong color, size, shape, texture, or other properties are hallucinated.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91640" y="1883664"/>
            <a:ext cx="717804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1640" y="1883664"/>
            <a:ext cx="1188720" cy="347472"/>
          </a:xfrm>
          <a:prstGeom prst="rect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709928" y="1883664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Count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99232" y="1920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Incorrect number of objects reported (e.g., '3 cats' when 2 are present).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304288"/>
            <a:ext cx="1280160" cy="128016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304288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Relation-Level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91640" y="2304288"/>
            <a:ext cx="717804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1640" y="2304288"/>
            <a:ext cx="1188720" cy="347472"/>
          </a:xfrm>
          <a:prstGeom prst="rect">
            <a:avLst/>
          </a:prstGeom>
          <a:solidFill>
            <a:srgbClr val="F77F00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709928" y="230428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Spatial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99232" y="23408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Wrong positional relationships (left/right, above/below). Models struggle with fine-grained spatial reasoning.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691640" y="2688336"/>
            <a:ext cx="7178040" cy="34747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26" name="Shape 24"/>
          <p:cNvSpPr/>
          <p:nvPr/>
        </p:nvSpPr>
        <p:spPr>
          <a:xfrm>
            <a:off x="1691640" y="2688336"/>
            <a:ext cx="1188720" cy="347472"/>
          </a:xfrm>
          <a:prstGeom prst="rect">
            <a:avLst/>
          </a:prstGeom>
          <a:solidFill>
            <a:srgbClr val="F77F00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709928" y="2688336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Action/Interaction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999232" y="27249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Incorrect description of how objects interact (e.g., 'person holding phone' vs. 'person pointing at phone').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493008"/>
            <a:ext cx="1280160" cy="128016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493008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Scene-Level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691640" y="3493008"/>
            <a:ext cx="717804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1640" y="3493008"/>
            <a:ext cx="1188720" cy="347472"/>
          </a:xfrm>
          <a:prstGeom prst="rect">
            <a:avLst/>
          </a:prstGeom>
          <a:solidFill>
            <a:srgbClr val="7B2FBE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709928" y="3493008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Context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99232" y="35295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Correct objects but wrong scene-level interpretation. Model infers plausible but incorrect global context.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691640" y="3877056"/>
            <a:ext cx="7178040" cy="347472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36" name="Shape 34"/>
          <p:cNvSpPr/>
          <p:nvPr/>
        </p:nvSpPr>
        <p:spPr>
          <a:xfrm>
            <a:off x="1691640" y="3877056"/>
            <a:ext cx="1188720" cy="347472"/>
          </a:xfrm>
          <a:prstGeom prst="rect">
            <a:avLst/>
          </a:prstGeom>
          <a:solidFill>
            <a:srgbClr val="7B2FBE">
              <a:alpha val="6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709928" y="3877056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Factual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999232" y="39136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Factual claims about entities in image that conflict with world knowledge (celebrity identity, landmark name).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590288"/>
            <a:ext cx="8595360" cy="164592"/>
          </a:xfrm>
          <a:prstGeom prst="rect">
            <a:avLst/>
          </a:prstGeom>
          <a:solidFill>
            <a:srgbClr val="2B3A4A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459028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Key Benchmarks: POPE · HallusionBench · AMBER (LLM-free, AMBER Score = Avg(1−CHAIR, F1)) · FREAK (fine-grained photorealistic edits) · CCEval (detailed captions) · VHTest · MAD-Bench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arXiv:2404.18930 — Hallucination of MLLMs Survey · arXiv:2408.08632 · FREAK (OpenReview 2025)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— Root Causes &amp; Mitigation Strategies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776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977640" cy="32004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Root Causes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170432"/>
            <a:ext cx="3749040" cy="64008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1978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828"/>
                </a:solidFill>
              </a:rPr>
              <a:t>Statistical Bias in Pretraining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4081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LLMs learn strong language priors. When visual evidence is weak, the model relies on text co-occurrence statistics, generating plausible but visually inconsistent outputs.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865376"/>
            <a:ext cx="3749040" cy="64008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8928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828"/>
                </a:solidFill>
              </a:rPr>
              <a:t>Weak Visual Grounding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Projector may not perfectly align visual tokens to LLM space — visual details are under-represented vs. language tokens during generation.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560320"/>
            <a:ext cx="3749040" cy="64008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5877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828"/>
                </a:solidFill>
              </a:rPr>
              <a:t>Insufficient Negative Training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2798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Models trained mainly on positive image-text pairs (NOPE study). Few examples of 'this object does NOT exist here' → models default to affirmation.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255264"/>
            <a:ext cx="3749040" cy="64008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2826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828"/>
                </a:solidFill>
              </a:rPr>
              <a:t>Prompt-Induced Hallucination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3493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Leading questions ('Is there a cat in this image?') increase hallucination rates significantly. Sensitivity to prompt phrasing creates unreliable outputs.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3950208"/>
            <a:ext cx="3749040" cy="64008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9776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828"/>
                </a:solidFill>
              </a:rPr>
              <a:t>Overconfident Autoregression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" y="4187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Hallucinated tokens in early generation are treated as ground truth for subsequent tokens — errors compound across the sequence.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34840" y="777240"/>
            <a:ext cx="44348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777240"/>
            <a:ext cx="4434840" cy="3200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4434840" y="7772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Mitigation Strategies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44568" y="1170432"/>
            <a:ext cx="4206240" cy="640080"/>
          </a:xfrm>
          <a:prstGeom prst="rect">
            <a:avLst/>
          </a:prstGeom>
          <a:solidFill>
            <a:srgbClr val="C7F5EE"/>
          </a:solidFill>
          <a:ln/>
        </p:spPr>
      </p:sp>
      <p:sp>
        <p:nvSpPr>
          <p:cNvPr id="26" name="Text 24"/>
          <p:cNvSpPr/>
          <p:nvPr/>
        </p:nvSpPr>
        <p:spPr>
          <a:xfrm>
            <a:off x="4636008" y="119786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RLHF / DPO Alignment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36008" y="14081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Human feedback or preference data trains the model to prefer visually grounded, faithful outputs over plausible-sounding hallucinations.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44568" y="1865376"/>
            <a:ext cx="4206240" cy="64008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29" name="Text 27"/>
          <p:cNvSpPr/>
          <p:nvPr/>
        </p:nvSpPr>
        <p:spPr>
          <a:xfrm>
            <a:off x="4636008" y="18928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Contrastive Decoding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36008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Compare outputs from full model vs. model with masked vision input. Downweight tokens the blind model would predict equally well.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44568" y="2560320"/>
            <a:ext cx="4206240" cy="640080"/>
          </a:xfrm>
          <a:prstGeom prst="rect">
            <a:avLst/>
          </a:prstGeom>
          <a:solidFill>
            <a:srgbClr val="C7F5EE"/>
          </a:solidFill>
          <a:ln/>
        </p:spPr>
      </p:sp>
      <p:sp>
        <p:nvSpPr>
          <p:cNvPr id="32" name="Text 30"/>
          <p:cNvSpPr/>
          <p:nvPr/>
        </p:nvSpPr>
        <p:spPr>
          <a:xfrm>
            <a:off x="4636008" y="25877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Scene Graph Augmentation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36008" y="27980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DEHALL framework: extract scene graphs to ground object attributes and relationships before generating answers. Reduces attribute and relation hallucinations.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44568" y="3255264"/>
            <a:ext cx="4206240" cy="640080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35" name="Text 33"/>
          <p:cNvSpPr/>
          <p:nvPr/>
        </p:nvSpPr>
        <p:spPr>
          <a:xfrm>
            <a:off x="4636008" y="32826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Chain-of-Thought (CoT) Prompting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36008" y="34930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Structured step-by-step reasoning (CCoT, DDCoT) significantly reduces hallucinations by forcing grounded intermediate steps.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44568" y="3950208"/>
            <a:ext cx="4206240" cy="640080"/>
          </a:xfrm>
          <a:prstGeom prst="rect">
            <a:avLst/>
          </a:prstGeom>
          <a:solidFill>
            <a:srgbClr val="C7F5EE"/>
          </a:solidFill>
          <a:ln/>
        </p:spPr>
      </p:sp>
      <p:sp>
        <p:nvSpPr>
          <p:cNvPr id="38" name="Text 36"/>
          <p:cNvSpPr/>
          <p:nvPr/>
        </p:nvSpPr>
        <p:spPr>
          <a:xfrm>
            <a:off x="4636008" y="39776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Retrieval-Augmented Generation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36008" y="4187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Ground outputs with retrieved visual or factual evidence. Reduces factual hallucinations in knowledge-intensive scenarios.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arXiv:2404.18930 · DEHALL (AAAI 2025) · arXiv:Frontiers frai.2025.1622292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Surfaces in Multimodal LLMs — Threat Landscape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75488"/>
          </a:xfrm>
          <a:prstGeom prst="rect">
            <a:avLst/>
          </a:prstGeom>
          <a:solidFill>
            <a:srgbClr val="2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79552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F00"/>
                </a:solidFill>
              </a:rPr>
              <a:t>⚠  Advanced automated attacks achieve 90–99% Attack Success Rate (ASR) on open-weight models; black-box attacks reach 80–94% on proprietary models (Survey: Jan 2022–Dec 2025, 160+ papers)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206240" cy="1078992"/>
          </a:xfrm>
          <a:prstGeom prst="rect">
            <a:avLst/>
          </a:prstGeom>
          <a:solidFill>
            <a:srgbClr val="1C2B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4206240" cy="36576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" name="Shape 6"/>
          <p:cNvSpPr/>
          <p:nvPr/>
        </p:nvSpPr>
        <p:spPr>
          <a:xfrm>
            <a:off x="3364992" y="1481328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D62828"/>
          </a:solidFill>
          <a:ln/>
        </p:spPr>
      </p:sp>
      <p:sp>
        <p:nvSpPr>
          <p:cNvPr id="9" name="Text 7"/>
          <p:cNvSpPr/>
          <p:nvPr/>
        </p:nvSpPr>
        <p:spPr>
          <a:xfrm>
            <a:off x="3364992" y="148132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Critical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4721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Adversarial Image Patches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17465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PGD, APGD, C&amp;W attacks on vision encoder. Imperceptible ε-perturbations (&lt;ℓ∞ 8/255) cause misclassification or inject targeted behaviors.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139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Bypasses visual safety filters; misleads downstream reasoning entirely.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389888"/>
            <a:ext cx="4206240" cy="1078992"/>
          </a:xfrm>
          <a:prstGeom prst="rect">
            <a:avLst/>
          </a:prstGeom>
          <a:solidFill>
            <a:srgbClr val="1C2B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389888"/>
            <a:ext cx="4206240" cy="36576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99832" y="1481328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D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7799832" y="148132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Critical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18888" y="14721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Typographic / Visual Jailbreaks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18888" y="174650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Harmful instructions embedded as text inside images (typography). VSH achieves &gt;82% ASR on LLaVA-1.5-13B and GPT-4o mini across 500 harmful queries.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8888" y="21396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Bypasses text-safety pipeline; visual modality has weaker alignment mechanisms.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560320"/>
            <a:ext cx="4206240" cy="1078992"/>
          </a:xfrm>
          <a:prstGeom prst="rect">
            <a:avLst/>
          </a:prstGeom>
          <a:solidFill>
            <a:srgbClr val="1C2B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560320"/>
            <a:ext cx="4206240" cy="36576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2" name="Shape 20"/>
          <p:cNvSpPr/>
          <p:nvPr/>
        </p:nvSpPr>
        <p:spPr>
          <a:xfrm>
            <a:off x="3364992" y="2651760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F77F00"/>
          </a:solidFill>
          <a:ln/>
        </p:spPr>
      </p:sp>
      <p:sp>
        <p:nvSpPr>
          <p:cNvPr id="23" name="Text 21"/>
          <p:cNvSpPr/>
          <p:nvPr/>
        </p:nvSpPr>
        <p:spPr>
          <a:xfrm>
            <a:off x="3364992" y="26517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High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26426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Multi-Modal Linkage (MML) Attacks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" y="29169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Coordinate adversarial image + crafted text. Encrypt harmful content using image mirroring, rotation, B64 encoding to evade detection.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" y="33101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Outperforms single-modality attacks; strong cross-model transferability.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560320"/>
            <a:ext cx="4206240" cy="1078992"/>
          </a:xfrm>
          <a:prstGeom prst="rect">
            <a:avLst/>
          </a:prstGeom>
          <a:solidFill>
            <a:srgbClr val="1C2B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560320"/>
            <a:ext cx="4206240" cy="36576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9" name="Shape 27"/>
          <p:cNvSpPr/>
          <p:nvPr/>
        </p:nvSpPr>
        <p:spPr>
          <a:xfrm>
            <a:off x="7799832" y="2651760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F77F00"/>
          </a:solidFill>
          <a:ln/>
        </p:spPr>
      </p:sp>
      <p:sp>
        <p:nvSpPr>
          <p:cNvPr id="30" name="Text 28"/>
          <p:cNvSpPr/>
          <p:nvPr/>
        </p:nvSpPr>
        <p:spPr>
          <a:xfrm>
            <a:off x="7799832" y="26517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High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18888" y="26426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Cross-Modal Inconsistency Exploits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18888" y="29169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Supply contradictory signals across text and image (text: 'cat', image: 'dog'). Model prioritizes one modality in ways attackers can exploit to override safety.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18888" y="33101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Confuses context; can force model into unintended harmful response modes.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730752"/>
            <a:ext cx="4206240" cy="1078992"/>
          </a:xfrm>
          <a:prstGeom prst="rect">
            <a:avLst/>
          </a:prstGeom>
          <a:solidFill>
            <a:srgbClr val="1C2B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730752"/>
            <a:ext cx="4206240" cy="36576"/>
          </a:xfrm>
          <a:prstGeom prst="rect">
            <a:avLst/>
          </a:prstGeom>
          <a:solidFill>
            <a:srgbClr val="FFBF00"/>
          </a:solidFill>
          <a:ln/>
        </p:spPr>
      </p:sp>
      <p:sp>
        <p:nvSpPr>
          <p:cNvPr id="36" name="Shape 34"/>
          <p:cNvSpPr/>
          <p:nvPr/>
        </p:nvSpPr>
        <p:spPr>
          <a:xfrm>
            <a:off x="3364992" y="382219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FFBF00"/>
          </a:solidFill>
          <a:ln/>
        </p:spPr>
      </p:sp>
      <p:sp>
        <p:nvSpPr>
          <p:cNvPr id="37" name="Text 35"/>
          <p:cNvSpPr/>
          <p:nvPr/>
        </p:nvSpPr>
        <p:spPr>
          <a:xfrm>
            <a:off x="3364992" y="38221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High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4048" y="38130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OCR / Document Prompt Injection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84048" y="408736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Embed adversarial instructions in documents, screenshots, or QR codes. Model executing OCR processes injected instructions as valid user commands.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4048" y="44805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Particularly dangerous in agentic systems that process untrusted documents.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730752"/>
            <a:ext cx="4206240" cy="1078992"/>
          </a:xfrm>
          <a:prstGeom prst="rect">
            <a:avLst/>
          </a:prstGeom>
          <a:solidFill>
            <a:srgbClr val="1C2B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730752"/>
            <a:ext cx="420624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3" name="Shape 41"/>
          <p:cNvSpPr/>
          <p:nvPr/>
        </p:nvSpPr>
        <p:spPr>
          <a:xfrm>
            <a:off x="7799832" y="382219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44" name="Text 42"/>
          <p:cNvSpPr/>
          <p:nvPr/>
        </p:nvSpPr>
        <p:spPr>
          <a:xfrm>
            <a:off x="7799832" y="38221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Medium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18888" y="38130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Audio Adversarial Jailbreaks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18888" y="408736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Subtle noise injections into speech to alter ASR transcription or steer audio-language model behavior. Universal audio perturbations transfer across models.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18888" y="44805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Affects voice-interface deployments; novel and less-studied attack vector.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VSH (ScienceDirect 2025) · MML Attack (ACL 2025) · MMJ-Bench (AAAI) · AdvWave (ICLR 2025) · ATLAS Challenge 2025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Attack Taxonomy — Techniques &amp; Defense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440680" cy="3977640"/>
          </a:xfrm>
          <a:prstGeom prst="rect">
            <a:avLst/>
          </a:prstGeom>
          <a:solidFill>
            <a:srgbClr val="2B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440680" cy="3200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Attack Input Taxonomy (arXiv:2411.09259)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188720"/>
            <a:ext cx="5212080" cy="274320"/>
          </a:xfrm>
          <a:prstGeom prst="rect">
            <a:avLst/>
          </a:prstGeom>
          <a:solidFill>
            <a:srgbClr val="FF6B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88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</a:rPr>
              <a:t>Image-Text (I+T→T)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→ FigStep — embed text in image as typography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→ QueryRelated — generate adversarial image via SD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→ Universal Adversarial Image — transferable perturbation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2494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→ MML — multi-modal linkage with encoding tricks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5054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→ VSH — virtual scenario hypnosis + ICL encryption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7614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→ Bi-modal adversarial prompt optimization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3108960"/>
            <a:ext cx="5212080" cy="274320"/>
          </a:xfrm>
          <a:prstGeom prst="rect">
            <a:avLst/>
          </a:prstGeom>
          <a:solidFill>
            <a:srgbClr val="F77F0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3108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7F00"/>
                </a:solidFill>
              </a:rPr>
              <a:t>Image Only (I→T)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4015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→ PGD / APGD / CW — gradient-based image perturbation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→ Patch-based attack on ViT visual encoder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9136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→ ODE — open-set dynamic hallucination generation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4261104"/>
            <a:ext cx="5212080" cy="274320"/>
          </a:xfrm>
          <a:prstGeom prst="rect">
            <a:avLst/>
          </a:prstGeom>
          <a:solidFill>
            <a:srgbClr val="2EC4B6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42611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</a:rPr>
              <a:t>Audio (A+T→T)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5537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→ AdvWave — universal audio perturbation (ICLR 2025)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8097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→ 'I am bad' stealthy audio jailbreak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50657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→ Adversarial mel-spectrogram injection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97880" y="777240"/>
            <a:ext cx="2971800" cy="3977640"/>
          </a:xfrm>
          <a:prstGeom prst="rect">
            <a:avLst/>
          </a:prstGeom>
          <a:solidFill>
            <a:srgbClr val="2B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97880" y="777240"/>
            <a:ext cx="2971800" cy="3200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5897880" y="7772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Defense Levels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1188720"/>
            <a:ext cx="2743200" cy="256032"/>
          </a:xfrm>
          <a:prstGeom prst="rect">
            <a:avLst/>
          </a:prstGeom>
          <a:solidFill>
            <a:srgbClr val="06D6A0">
              <a:alpha val="6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016752" y="11887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Input Level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16752" y="14630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· AdaShield — adaptive shield prompting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16752" y="170992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· BlueSuffix — reinforced blue teaming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16752" y="195681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· Image preprocessing / smoothing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2276856"/>
            <a:ext cx="2743200" cy="256032"/>
          </a:xfrm>
          <a:prstGeom prst="rect">
            <a:avLst/>
          </a:prstGeom>
          <a:solidFill>
            <a:srgbClr val="1B998B">
              <a:alpha val="6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016752" y="22768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98B"/>
                </a:solidFill>
              </a:rPr>
              <a:t>Generator Level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16752" y="255117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· Immune — inference-time alignment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16752" y="279806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· EigenShield — causal subspace filter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16752" y="30449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· Contrastive decoding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364992"/>
            <a:ext cx="2743200" cy="256032"/>
          </a:xfrm>
          <a:prstGeom prst="rect">
            <a:avLst/>
          </a:prstGeom>
          <a:solidFill>
            <a:srgbClr val="7B2FBE">
              <a:alpha val="6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016752" y="33649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BE"/>
                </a:solidFill>
              </a:rPr>
              <a:t>Output Level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016752" y="363931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· Toxicity classifiers (rule/GPT-based)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016752" y="38862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· Human red-team evaluation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016752" y="4133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· LLM-as-judge safety scoring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89320" y="4453128"/>
            <a:ext cx="2743200" cy="256032"/>
          </a:xfrm>
          <a:prstGeom prst="rect">
            <a:avLst/>
          </a:prstGeom>
          <a:solidFill>
            <a:srgbClr val="F77F00">
              <a:alpha val="6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016752" y="44531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7F00"/>
                </a:solidFill>
              </a:rPr>
              <a:t>Training Level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16752" y="472744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· SPA-VL safety preference dataset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016752" y="497433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· RLHF / DPO alignment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016752" y="522122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  · Adversarial fine-tuning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Awesome-Multimodal-Jailbreak (arXiv:2411.09259) · ATLAS 2025 · MMJ-Bench (AAAI) · BlueSuffix (ICLR 2025)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Evaluation Benchmarks — Detailed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41732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Benchmark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91640" y="777240"/>
            <a:ext cx="86868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7772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Venue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777240"/>
            <a:ext cx="96012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7772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Modality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777240"/>
            <a:ext cx="77724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7772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Scale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777240"/>
            <a:ext cx="457200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Focus / What it Measures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124712"/>
            <a:ext cx="1417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1247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998B"/>
                </a:solidFill>
              </a:rPr>
              <a:t>MME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91640" y="1124712"/>
            <a:ext cx="868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11247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NeurIPS '25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0" y="1124712"/>
            <a:ext cx="960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11247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Img+Text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20440" y="1124712"/>
            <a:ext cx="777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11247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14 tasks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97680" y="1124712"/>
            <a:ext cx="45720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112471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Comprehensive perception+cognition benchmark; 14 subtasks; manual YNQ pairs; Accuracy+ metric to remove yes-bias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1481328"/>
            <a:ext cx="141732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1481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</a:rPr>
              <a:t>MME-RealWorld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91640" y="1481328"/>
            <a:ext cx="86868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7" name="Text 25"/>
          <p:cNvSpPr/>
          <p:nvPr/>
        </p:nvSpPr>
        <p:spPr>
          <a:xfrm>
            <a:off x="1737360" y="14813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ICLR '25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0" y="1481328"/>
            <a:ext cx="96012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9" name="Text 27"/>
          <p:cNvSpPr/>
          <p:nvPr/>
        </p:nvSpPr>
        <p:spPr>
          <a:xfrm>
            <a:off x="2606040" y="14813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Img+Text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520440" y="1481328"/>
            <a:ext cx="77724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148132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Large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97680" y="1481328"/>
            <a:ext cx="457200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3" name="Text 31"/>
          <p:cNvSpPr/>
          <p:nvPr/>
        </p:nvSpPr>
        <p:spPr>
          <a:xfrm>
            <a:off x="4343400" y="148132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Addresses annotation quality &amp; task difficulty gaps; real-world grounding; harder than MME by design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1837944"/>
            <a:ext cx="1417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18379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BE"/>
                </a:solidFill>
              </a:rPr>
              <a:t>MMReason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691640" y="1837944"/>
            <a:ext cx="868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737360" y="18379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ICCV '25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0" y="1837944"/>
            <a:ext cx="960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606040" y="18379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Img+Text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520440" y="1837944"/>
            <a:ext cx="777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566160" y="183794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~3K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297680" y="1837944"/>
            <a:ext cx="45720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343400" y="183794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Open-ended multi-step reasoning; no MCQ answer choices; evaluates intermediate reasoning trace correctness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2194560"/>
            <a:ext cx="141732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2194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F00"/>
                </a:solidFill>
              </a:rPr>
              <a:t>Video-MME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691640" y="2194560"/>
            <a:ext cx="86868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7" name="Text 45"/>
          <p:cNvSpPr/>
          <p:nvPr/>
        </p:nvSpPr>
        <p:spPr>
          <a:xfrm>
            <a:off x="1737360" y="21945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CVPR '25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0" y="2194560"/>
            <a:ext cx="96012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9" name="Text 47"/>
          <p:cNvSpPr/>
          <p:nvPr/>
        </p:nvSpPr>
        <p:spPr>
          <a:xfrm>
            <a:off x="2606040" y="2194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Video+Text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520440" y="2194560"/>
            <a:ext cx="77724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51" name="Text 49"/>
          <p:cNvSpPr/>
          <p:nvPr/>
        </p:nvSpPr>
        <p:spPr>
          <a:xfrm>
            <a:off x="3566160" y="21945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~900 videos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297680" y="2194560"/>
            <a:ext cx="457200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53" name="Text 51"/>
          <p:cNvSpPr/>
          <p:nvPr/>
        </p:nvSpPr>
        <p:spPr>
          <a:xfrm>
            <a:off x="4343400" y="219456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First comprehensive video benchmark; short/medium/long clips; temporal reasoning; subtitle-inclusive track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2551176"/>
            <a:ext cx="1417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" y="25511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7F00"/>
                </a:solidFill>
              </a:rPr>
              <a:t>HallusionBench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691640" y="2551176"/>
            <a:ext cx="868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1737360" y="25511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arXiv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560320" y="2551176"/>
            <a:ext cx="960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2606040" y="25511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Img+Text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520440" y="2551176"/>
            <a:ext cx="777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3566160" y="255117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~1.1K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297680" y="2551176"/>
            <a:ext cx="45720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4343400" y="255117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Visual Dependent vs Visual Supplement hallucination types; language-guided visual corruption; GPT-4V MCQs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4320" y="2907792"/>
            <a:ext cx="141732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65" name="Text 63"/>
          <p:cNvSpPr/>
          <p:nvPr/>
        </p:nvSpPr>
        <p:spPr>
          <a:xfrm>
            <a:off x="320040" y="29077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POPE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691640" y="2907792"/>
            <a:ext cx="86868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67" name="Text 65"/>
          <p:cNvSpPr/>
          <p:nvPr/>
        </p:nvSpPr>
        <p:spPr>
          <a:xfrm>
            <a:off x="1737360" y="29077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EMNLP '23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560320" y="2907792"/>
            <a:ext cx="96012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69" name="Text 67"/>
          <p:cNvSpPr/>
          <p:nvPr/>
        </p:nvSpPr>
        <p:spPr>
          <a:xfrm>
            <a:off x="2606040" y="29077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Img+Text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520440" y="2907792"/>
            <a:ext cx="77724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71" name="Text 69"/>
          <p:cNvSpPr/>
          <p:nvPr/>
        </p:nvSpPr>
        <p:spPr>
          <a:xfrm>
            <a:off x="3566160" y="29077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~9K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297680" y="2907792"/>
            <a:ext cx="457200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73" name="Text 71"/>
          <p:cNvSpPr/>
          <p:nvPr/>
        </p:nvSpPr>
        <p:spPr>
          <a:xfrm>
            <a:off x="4343400" y="290779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Evaluates object existence hallucination via adversarial/popular/random sampling strategies (Yes/No format)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74320" y="3264408"/>
            <a:ext cx="1417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320040" y="32644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4B6"/>
                </a:solidFill>
              </a:rPr>
              <a:t>AMBER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691640" y="3264408"/>
            <a:ext cx="868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1737360" y="32644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arXiv '23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560320" y="3264408"/>
            <a:ext cx="960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2606040" y="32644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Img+Text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520440" y="3264408"/>
            <a:ext cx="777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3566160" y="32644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~1K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297680" y="3264408"/>
            <a:ext cx="45720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4343400" y="326440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LLM-free; evaluates existence, attribute, relation hallucination; AMBER Score = Avg(1-CHAIR, F1)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74320" y="3621024"/>
            <a:ext cx="141732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85" name="Text 83"/>
          <p:cNvSpPr/>
          <p:nvPr/>
        </p:nvSpPr>
        <p:spPr>
          <a:xfrm>
            <a:off x="320040" y="36210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BE"/>
                </a:solidFill>
              </a:rPr>
              <a:t>MathVista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1691640" y="3621024"/>
            <a:ext cx="86868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87" name="Text 85"/>
          <p:cNvSpPr/>
          <p:nvPr/>
        </p:nvSpPr>
        <p:spPr>
          <a:xfrm>
            <a:off x="1737360" y="36210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ICLR '24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560320" y="3621024"/>
            <a:ext cx="96012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89" name="Text 87"/>
          <p:cNvSpPr/>
          <p:nvPr/>
        </p:nvSpPr>
        <p:spPr>
          <a:xfrm>
            <a:off x="2606040" y="36210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Img+Text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520440" y="3621024"/>
            <a:ext cx="77724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91" name="Text 89"/>
          <p:cNvSpPr/>
          <p:nvPr/>
        </p:nvSpPr>
        <p:spPr>
          <a:xfrm>
            <a:off x="3566160" y="36210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~6.1K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297680" y="3621024"/>
            <a:ext cx="457200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93" name="Text 91"/>
          <p:cNvSpPr/>
          <p:nvPr/>
        </p:nvSpPr>
        <p:spPr>
          <a:xfrm>
            <a:off x="4343400" y="362102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Mathematical reasoning in visual contexts; geometry diagrams, charts, scientific figures across 21 tasks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74320" y="3977640"/>
            <a:ext cx="1417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3"/>
          <p:cNvSpPr/>
          <p:nvPr/>
        </p:nvSpPr>
        <p:spPr>
          <a:xfrm>
            <a:off x="320040" y="3977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99AA"/>
                </a:solidFill>
              </a:rPr>
              <a:t>DocVQA/ChartQA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1691640" y="3977640"/>
            <a:ext cx="868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5"/>
          <p:cNvSpPr/>
          <p:nvPr/>
        </p:nvSpPr>
        <p:spPr>
          <a:xfrm>
            <a:off x="1737360" y="3977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Multiple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2560320" y="3977640"/>
            <a:ext cx="960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7"/>
          <p:cNvSpPr/>
          <p:nvPr/>
        </p:nvSpPr>
        <p:spPr>
          <a:xfrm>
            <a:off x="2606040" y="3977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Doc/Chart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3520440" y="3977640"/>
            <a:ext cx="777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9"/>
          <p:cNvSpPr/>
          <p:nvPr/>
        </p:nvSpPr>
        <p:spPr>
          <a:xfrm>
            <a:off x="3566160" y="39776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Large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4297680" y="3977640"/>
            <a:ext cx="45720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Text 101"/>
          <p:cNvSpPr/>
          <p:nvPr/>
        </p:nvSpPr>
        <p:spPr>
          <a:xfrm>
            <a:off x="4343400" y="39776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Document understanding (text in images) and chart/data visualization QA; critical for enterprise deployments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274320" y="4334256"/>
            <a:ext cx="141732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05" name="Text 103"/>
          <p:cNvSpPr/>
          <p:nvPr/>
        </p:nvSpPr>
        <p:spPr>
          <a:xfrm>
            <a:off x="320040" y="43342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2828"/>
                </a:solidFill>
              </a:rPr>
              <a:t>MMJ-Bench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1691640" y="4334256"/>
            <a:ext cx="86868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07" name="Text 105"/>
          <p:cNvSpPr/>
          <p:nvPr/>
        </p:nvSpPr>
        <p:spPr>
          <a:xfrm>
            <a:off x="1737360" y="43342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AAAI '25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2560320" y="4334256"/>
            <a:ext cx="96012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09" name="Text 107"/>
          <p:cNvSpPr/>
          <p:nvPr/>
        </p:nvSpPr>
        <p:spPr>
          <a:xfrm>
            <a:off x="2606040" y="43342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Img+Text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3520440" y="4334256"/>
            <a:ext cx="77724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11" name="Text 109"/>
          <p:cNvSpPr/>
          <p:nvPr/>
        </p:nvSpPr>
        <p:spPr>
          <a:xfrm>
            <a:off x="3566160" y="43342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Safety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4297680" y="4334256"/>
            <a:ext cx="457200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13" name="Text 111"/>
          <p:cNvSpPr/>
          <p:nvPr/>
        </p:nvSpPr>
        <p:spPr>
          <a:xfrm>
            <a:off x="4343400" y="433425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First standardized safety benchmark evaluating attack &amp; defense techniques for VLM jailbreaks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arXiv:2408.08632 (200+ benchmarks surveyed) · MMJ-Bench (AAAI) · Video-MME (CVPR 2025)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MLLM Evaluation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502920" cy="1207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78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8595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2828"/>
                </a:solidFill>
              </a:rPr>
              <a:t>Medical &amp; Healthcare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11521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📌 PathVQA, VQA-RAD, OmniMedVQA, MedICaT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68680" y="1380744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errors, rare disease recognition, DICOM image interpretation, privacy constraints, requires expert annotation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502920" cy="12070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078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8595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Document Intelligence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0" y="11521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📌 DocVQA, InfographicVQA, MP-DocVQA, ArxivQA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1380744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reasoning, complex layouts, mixed text+figure understanding, table extraction, handwriting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148840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48840"/>
            <a:ext cx="502920" cy="12070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22037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FBE"/>
                </a:solidFill>
              </a:rPr>
              <a:t>Scientific &amp; Mathematical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249631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📌 ScienceQA, MathVista, MathVerse, MATH-Vision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" y="272491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comprehension, equation parsing, multi-step deduction, cross-referencing figures and text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148840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148840"/>
            <a:ext cx="502920" cy="120700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03520" y="22037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998B"/>
                </a:solidFill>
              </a:rPr>
              <a:t>Chart &amp; Data Visualization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03520" y="249631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📌 ChartQA, FigureQA, PlotQA, MMC-Benchmark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03520" y="272491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accuracy, trend identification, multi-chart comparison, understanding unconventional chart types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493008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493008"/>
            <a:ext cx="502920" cy="12070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🛰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8680" y="3547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</a:rPr>
              <a:t>Remote Sensing / Geospatial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68680" y="38404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📌 RSVQA, GeoChat, SkySense-Bench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406908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perspective not in training data, fine-grained object detection at scale, temporal change detection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493008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493008"/>
            <a:ext cx="502920" cy="1207008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03520" y="3547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7F00"/>
                </a:solidFill>
              </a:rPr>
              <a:t>Industrial &amp; Robotics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303520" y="38404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📌 SEED-Bench, MM-SafetyBench (industrial)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03520" y="406908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object detection, embodied QA, physical world grounding, instruction following for robotic actions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arXiv:2408.08632 (Section 3: Specific Domain Benchmarks) · ScienceQA · MathVista (ICLR 2024)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— Automated, Human &amp; LLM-as-Judge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8892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Automated / Reference-Based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2606040" cy="56692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070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Accuracy / Top-1 / Accuracy+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4264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Closed-set VQA. Accuracy+ (MME) uses yes/no paired questions to cancel out response bias.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2606040" cy="566928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81965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CIDEr / SPICE / METEOR / BLEU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0391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Caption quality via n-gram overlap with reference captions. SPICE evaluates semantic propositions.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2606040" cy="56692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43230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CHAIR (CHAIr Hallucination)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CHAIR_I = |hallucinated objects| / |all mentioned objects|. CHAIR_S = fraction of hallucinated sentences. Lower = better.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008376"/>
            <a:ext cx="2606040" cy="566928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0449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AMBER Score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264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Avg(1 − CHAIR_I, F1). Combines generative and discriminative hallucination evaluation in a single LLM-free score.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621024"/>
            <a:ext cx="2606040" cy="56692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6576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Attack Success Rate (ASR)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8770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Fraction of adversarial queries that elicit harmful outputs. Key safety metric. White-box models: 90–99% ASR achievable.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233672"/>
            <a:ext cx="2606040" cy="566928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2702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Robustness Drop (ΔAcc)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4897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Performance delta under clean vs. perturbed inputs. Measures sensitivity to adversarial/natural corruptions.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777240"/>
            <a:ext cx="278892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777240"/>
            <a:ext cx="2788920" cy="32004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7772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Model-Based / LLM-as-Judge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1170432"/>
            <a:ext cx="2606040" cy="56692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12070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BE"/>
                </a:solidFill>
              </a:rPr>
              <a:t>GPT-4V / Claude Evaluation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37560" y="14264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LLM judges score outputs on accuracy, faithfulness, and coherence. Used in HallusionBench, Video-MME, MMReason.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1783080"/>
            <a:ext cx="2606040" cy="566928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181965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BE"/>
                </a:solidFill>
              </a:rPr>
              <a:t>GAVIE Score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37560" y="20391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GPT-based Automatic VLM Instruction Evaluation. Scores relevance + accuracy of visual instruction responses (0–10).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2395728"/>
            <a:ext cx="2606040" cy="56692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5" name="Text 33"/>
          <p:cNvSpPr/>
          <p:nvPr/>
        </p:nvSpPr>
        <p:spPr>
          <a:xfrm>
            <a:off x="3337560" y="243230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BE"/>
                </a:solidFill>
              </a:rPr>
              <a:t>Reasoning Trace Score (MMReason)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37560" y="2651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Evaluates both final answer and intermediate chain-of-thought correctness using structured scoring rubrics.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3008376"/>
            <a:ext cx="2606040" cy="566928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38" name="Text 36"/>
          <p:cNvSpPr/>
          <p:nvPr/>
        </p:nvSpPr>
        <p:spPr>
          <a:xfrm>
            <a:off x="3337560" y="30449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BE"/>
                </a:solidFill>
              </a:rPr>
              <a:t>Multi-Dimensional Jailbreak Judge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37560" y="3264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VSH uses 5 rule-driven metrics: harmfulness, relevance, specificity, actionability, and safety-bypass success.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91840" y="3621024"/>
            <a:ext cx="2606040" cy="56692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1" name="Text 39"/>
          <p:cNvSpPr/>
          <p:nvPr/>
        </p:nvSpPr>
        <p:spPr>
          <a:xfrm>
            <a:off x="3337560" y="36576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BE"/>
                </a:solidFill>
              </a:rPr>
              <a:t>Cross-modal Consistency (CLIP Score)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37560" y="38770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Cosine similarity between CLIP embeddings of image and generated caption. Measures visual grounding of text.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777240"/>
            <a:ext cx="278892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777240"/>
            <a:ext cx="2788920" cy="3200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0" y="7772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Human Evaluation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17920" y="1170432"/>
            <a:ext cx="2606040" cy="56692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47" name="Text 45"/>
          <p:cNvSpPr/>
          <p:nvPr/>
        </p:nvSpPr>
        <p:spPr>
          <a:xfrm>
            <a:off x="6263640" y="12070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Human Preference Rating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63640" y="14264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Pairwise or Likert-scale (1–5) assessment of response quality, faithfulness, and helpfulness by annotators.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17920" y="1783080"/>
            <a:ext cx="2606040" cy="566928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181965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Inter-Annotator Agreement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63640" y="20391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Cohen's κ (binary) or Krippendorff's α (ordinal) to validate reliability. κ &gt; 0.6 considered acceptable.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17920" y="2395728"/>
            <a:ext cx="2606040" cy="56692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53" name="Text 51"/>
          <p:cNvSpPr/>
          <p:nvPr/>
        </p:nvSpPr>
        <p:spPr>
          <a:xfrm>
            <a:off x="6263640" y="243230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Faithfulness Assessment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63640" y="2651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Expert raters check whether generated content is grounded in the visual input vs. hallucinated.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17920" y="3008376"/>
            <a:ext cx="2606040" cy="566928"/>
          </a:xfrm>
          <a:prstGeom prst="rect">
            <a:avLst/>
          </a:prstGeom>
          <a:solidFill>
            <a:srgbClr val="F4F7F9"/>
          </a:solidFill>
          <a:ln/>
        </p:spPr>
      </p:sp>
      <p:sp>
        <p:nvSpPr>
          <p:cNvPr id="56" name="Text 54"/>
          <p:cNvSpPr/>
          <p:nvPr/>
        </p:nvSpPr>
        <p:spPr>
          <a:xfrm>
            <a:off x="6263640" y="304495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Red-Teaming Evaluation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263640" y="3264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Human adversaries attempt jailbreaks; ASR measured alongside diversity and harmfulness of successful attacks.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17920" y="3621024"/>
            <a:ext cx="2606040" cy="56692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59" name="Text 57"/>
          <p:cNvSpPr/>
          <p:nvPr/>
        </p:nvSpPr>
        <p:spPr>
          <a:xfrm>
            <a:off x="6263640" y="36576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VHILT Human Annotation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263640" y="38770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5"/>
                </a:solidFill>
              </a:rPr>
              <a:t>8 hallucination type labels by human MTurk workers across 2K news images; identity incongruity most common error.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MME · AMBER (arXiv:2408.08632) · GAVIE (ICLR 2023) · MMReason (ICCV 2025) · VHILT · CHAIR metric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Frameworks, Toolkits &amp; Protocols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206240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22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VLMEvalKit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27248" y="868680"/>
            <a:ext cx="1234440" cy="2286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3127248" y="86868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⚙ open-compass/VLMEvalKit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216152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widely used MLLM evaluation toolkit. Supports 100+ benchmarks out-of-the-box (MME, MMReason, Video-MME, etc.). Plug-and-play model evaluation with minimal boilerplate.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920240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1B998B">
              <a:alpha val="4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9202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100+ benchmarks supported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95728" y="1920240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1B998B">
              <a:alpha val="4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395728" y="19202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Unified API for 50+ models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212848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1B998B">
              <a:alpha val="4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2128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Supports image, video, audio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95728" y="2212848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1B998B">
              <a:alpha val="4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395728" y="22128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Auto-metric computation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804672"/>
            <a:ext cx="420624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04672"/>
            <a:ext cx="4206240" cy="34747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822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lmms-eval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62088" y="868680"/>
            <a:ext cx="1234440" cy="2286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562088" y="86868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⚙ EvolvingLMMs/lmms-eval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18888" y="1216152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Evaluation Harness extension for multimodal models. Based on EleutherAI's eval framework. Designed for reproducible, standardized benchmark comparison.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18888" y="1920240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7B2FBE">
              <a:alpha val="4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18888" y="19202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EleutherAI-compatible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30568" y="1920240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7B2FBE">
              <a:alpha val="4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830568" y="19202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Vision-language tasks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18888" y="2212848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7B2FBE">
              <a:alpha val="4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18888" y="22128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Standardized scoring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30568" y="2212848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7B2FBE">
              <a:alpha val="4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830568" y="22128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Leaderboard integration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2706624"/>
            <a:ext cx="420624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706624"/>
            <a:ext cx="4206240" cy="347472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" y="27249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MMJ-Bench Framework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127248" y="2770632"/>
            <a:ext cx="1234440" cy="2286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3127248" y="277063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⚙ AAAI 2025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4048" y="311810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standardized framework to evaluate both VLM jailbreak attacks AND defenses side-by-side. Enables fair comparison of attack methods (FigStep, QueryRelated, etc.) against defense strategies.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84048" y="3822192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D62828">
              <a:alpha val="4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" y="382219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Attack vs. Defense comparison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395728" y="3822192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D62828">
              <a:alpha val="4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2395728" y="382219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Multiple VLM targets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84048" y="4114800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D62828">
              <a:alpha val="4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84048" y="41148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ASR + safety scoring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395728" y="4114800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D62828">
              <a:alpha val="4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395728" y="41148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Open-source dataset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9160" y="2706624"/>
            <a:ext cx="420624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2706624"/>
            <a:ext cx="4206240" cy="347472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48" name="Text 46"/>
          <p:cNvSpPr/>
          <p:nvPr/>
        </p:nvSpPr>
        <p:spPr>
          <a:xfrm>
            <a:off x="4818888" y="27249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ATLAS Challenge 2025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562088" y="2770632"/>
            <a:ext cx="1234440" cy="2286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7562088" y="277063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⚙ NY1024/ATLAS_Challenge_2025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18888" y="311810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 &amp; Large-model Alignment Safety Challenge. 86 teams tested MLLMs via white-box and black-box adversarial image-text attacks across 12 risk categories.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18888" y="3822192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F77F00">
              <a:alpha val="4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818888" y="382219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86 teams competed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830568" y="3822192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F77F00">
              <a:alpha val="45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830568" y="3822192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White-box + black-box phases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18888" y="4114800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F77F00">
              <a:alpha val="4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818888" y="41148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12 risk categories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830568" y="4114800"/>
            <a:ext cx="1920240" cy="237744"/>
          </a:xfrm>
          <a:prstGeom prst="roundRect">
            <a:avLst>
              <a:gd name="adj" fmla="val 15385"/>
            </a:avLst>
          </a:prstGeom>
          <a:solidFill>
            <a:srgbClr val="F77F00">
              <a:alpha val="4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830568" y="41148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✓ Open code &amp; data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VLMEvalKit (open-compass) · lmms-eval (EvolvingLMMs) · MMJ-Bench (AAAI 2025) · ATLAS 2025 (arXiv:2506.12430)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 &amp; Future Research Directions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9436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38912" cy="5943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859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6B"/>
                </a:solidFill>
              </a:rPr>
              <a:t>Benchmark Saturation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1115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models near-saturate many benchmarks (e.g., MME). Need dynamic, continuously-refreshed eval sets (ODE protocol uses text-to-image generation to create novel VH instances). Shift from static to living benchmarks.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8595360" cy="59436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81328"/>
            <a:ext cx="438912" cy="594360"/>
          </a:xfrm>
          <a:prstGeom prst="rect">
            <a:avLst/>
          </a:prstGeom>
          <a:solidFill>
            <a:srgbClr val="FFBF0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481328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F00"/>
                </a:solidFill>
              </a:rPr>
              <a:t>Beyond MCQ — Open-Ended Eval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" y="17922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 format enables shortcut guessing; MMReason showed significant performance drop when answer choices removed. Compositional, multi-step open-ended tasks better reflect real capability.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57984"/>
            <a:ext cx="8595360" cy="59436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57984"/>
            <a:ext cx="438912" cy="5943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157984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2212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4B6"/>
                </a:solidFill>
              </a:rPr>
              <a:t>Long-Context Video Understanding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" y="2468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Video-MME covers short/medium/long clips but hour-long video reasoning remains unsolved. Temporal grounding, event co-reference, and multi-scene reasoning across long videos are open problems.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8595360" cy="59436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438912" cy="59436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834640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28895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7F00"/>
                </a:solidFill>
              </a:rPr>
              <a:t>Safety Red-Teaming &amp; Standardization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" y="31455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safety benchmark exists comparable to HELM/MMLU for safety. ATLAS 2025 and MMJ-Bench are early steps. Need standardized attack categories, ASR metrics, and defense baselines.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11296"/>
            <a:ext cx="8595360" cy="59436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11296"/>
            <a:ext cx="438912" cy="59436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511296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672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2FBE"/>
                </a:solidFill>
              </a:rPr>
              <a:t>Multimodal Reasoning Interpretability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04672" y="38221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models use visual vs. text modality is opaque. EigenShield (causal subspace filtering) and scene-graph-based methods are nascent. Mechanistic interpretability for vision-language cross-attention needed.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187952"/>
            <a:ext cx="8595360" cy="594360"/>
          </a:xfrm>
          <a:prstGeom prst="rect">
            <a:avLst/>
          </a:prstGeom>
          <a:solidFill>
            <a:srgbClr val="1A2B3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187952"/>
            <a:ext cx="438912" cy="5943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187952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4672" y="4242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</a:rPr>
              <a:t>Efficient &amp; Scalable Evaluation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04672" y="44988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100+ benchmarks per model is compute-intensive. Proxy evaluations and benchmark distillation are needed. Meta-benchmark selection: which 5 benchmarks predict performance on the other 200?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Ref: ODE (CVPR 2025) · MMReason · Video-MME · ATLAS 2025 · EigenShield · arXiv:2408.08632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2B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References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5486400" cy="36576"/>
          </a:xfrm>
          <a:prstGeom prst="rect">
            <a:avLst/>
          </a:prstGeom>
          <a:solidFill>
            <a:srgbClr val="FFBF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896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MLLMs unify modalities: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04288" y="89611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via encoder→projector→LLM pipeline, trained in stages from pretraining to RLHF alignment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3075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B998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07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335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Evaluation must be multidimensional: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04288" y="133502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covering perception, cognition, cross-modal reasoning, hallucination, robustness, and domain expertise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74650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B998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7465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17739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Hallucination is layered: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04288" y="177393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object/attribute/scene levels with distinct causes (statistical bias, weak grounding) and targeted mitigations (CoT, contrastive decoding)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18541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B998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1854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2128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Visual jailbreaks are severely underaligned: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04288" y="221284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advanced attacks achieve 82–99% ASR; visual pathway is the weakest link in safety alignment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24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B998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624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651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Use VLMEvalKit / lmms-eval: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04288" y="265176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for reproducible evaluation; always use open-ended evaluation alongside MCQ to avoid shortcut inflation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27248"/>
            <a:ext cx="8229600" cy="201168"/>
          </a:xfrm>
          <a:prstGeom prst="rect">
            <a:avLst/>
          </a:prstGeom>
          <a:solidFill>
            <a:srgbClr val="1B998B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127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33832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arXiv:2408.08632 — Survey on Benchmarks of MLLMs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33832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arXiv:2404.18930 — Hallucination of MLLMs Survey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5844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MME (NeurIPS 2025) · MMReason (ICCV 2025)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3440" y="35844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Video-MME (CVPR 2025) · MME-RealWorld (ICLR 2025)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7856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POPE (EMNLP 2023) · AMBER · HallusionBench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37856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MathVista (ICLR 2024) · FREAK (OpenReview 2025)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98678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arXiv:2411.09259 — Multimodal Jailbreak Survey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398678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ATLAS Challenge 2025 (arXiv:2506.12430)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187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MMJ-Bench (AAAI 2025) · AdvWave (ICLR 2025)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4187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GitHub: VLMEvalKit · lmms-eval · Awesome-MLLM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4805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Evaluation of Multimodal LLMs  |  Detailed Research Overview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Multimodal LLMs — Detailed</dc:title>
  <dc:subject>PptxGenJS Presentation</dc:subject>
  <dc:creator>PptxGenJS</dc:creator>
  <cp:lastModifiedBy>PptxGenJS</cp:lastModifiedBy>
  <cp:revision>1</cp:revision>
  <dcterms:created xsi:type="dcterms:W3CDTF">2026-03-15T08:48:53Z</dcterms:created>
  <dcterms:modified xsi:type="dcterms:W3CDTF">2026-03-15T08:48:53Z</dcterms:modified>
</cp:coreProperties>
</file>