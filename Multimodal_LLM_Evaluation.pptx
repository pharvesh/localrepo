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Large Language Models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· Benchmarks · Vulnerabilities · Metrics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486400" cy="36576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06324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998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63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🖼  Vision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06324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998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3063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📝  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306324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998B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3063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🎵  Audio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306324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998B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3063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🎬  Video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arXiv:2408.08632 · MME · MMReason · Video-MME · MME-RealWorld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Multimodal LLM?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LLM (MLLM) is a large language model extended to understand, reason over, and generate content across multiple input/output modalities — including text, images, audio, and video — within a unified architecture.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64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Encoder(s)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Modality-specific encoders convert raw inputs (images via ViT, audio via Whisper-style) into token embeddings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664208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64208"/>
            <a:ext cx="2743200" cy="292608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664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Connector / Projector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adapter (Q-Former, MLP projector) aligns multimodal tokens into the LLM's embedding space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664208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64208"/>
            <a:ext cx="2743200" cy="2926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664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LLM Backbone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pre-trained transformer (GPT, LLaMA, Mistral) that reasons jointly over all modality tokens to produce outputs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99232" y="2322576"/>
            <a:ext cx="228600" cy="7315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9" name="Shape 17"/>
          <p:cNvSpPr/>
          <p:nvPr/>
        </p:nvSpPr>
        <p:spPr>
          <a:xfrm>
            <a:off x="5925312" y="2322576"/>
            <a:ext cx="228600" cy="7315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Notable Models: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66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GPT-4o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356616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3566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Gemini 1.5 Pro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56616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566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LLaVA-1.6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56616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3566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InternVL2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56616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566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Qwen-VL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3566160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3566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Claude 3.5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arXiv:2408.08632 — Survey on Benchmarks of MLLMs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Evaluating MLLMs is Uniquely Challenging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1691640"/>
          </a:xfrm>
          <a:prstGeom prst="rect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Cross-modal Complexity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39903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must align semantics across modalities. A caption can be correct in text but misaligned with the image.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8686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868680"/>
            <a:ext cx="54864" cy="169164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058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Hallucination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37560" y="139903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MLLMs frequently describe objects not present in images or fabricate audio transcriptions.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8686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868680"/>
            <a:ext cx="54864" cy="1691640"/>
          </a:xfrm>
          <a:prstGeom prst="rect">
            <a:avLst/>
          </a:prstGeom>
          <a:solidFill>
            <a:srgbClr val="7B2FB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960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Contamination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63640" y="139903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images often appear in training corpora, inflating performance scores on existing benchmarks.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834640"/>
            <a:ext cx="54864" cy="1691640"/>
          </a:xfrm>
          <a:prstGeom prst="rect">
            <a:avLst/>
          </a:prstGeom>
          <a:solidFill>
            <a:srgbClr val="FFBF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718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Task Diversity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11480" y="336499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must span perception, cognition, reasoning, generation — no single benchmark covers all.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2834640"/>
            <a:ext cx="54864" cy="169164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9718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490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Ground-Truth for Generation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37560" y="336499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outputs (captions, VQA) resist automated scoring; human eval is costly and inconsistent.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834640"/>
            <a:ext cx="54864" cy="169164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9718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Rapid Model Evolution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63640" y="336499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quickly saturate as new models emerge, requiring continuous refresh of evaluation sets.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27432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MME-RealWorld (ICLR 2025) · arXiv:2408.08632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Evaluation Dimensions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Perception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model accurately detect, locate, and describe objects, attributes, and scenes?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MME (perception subtasks), POPE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502920" cy="12344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229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914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Cognition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2344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model perform commonsense reasoning, numerical reasoning, and knowledge-based QA?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MME-RealWorld, ScienceQA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12848"/>
            <a:ext cx="502920" cy="1234440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1284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3042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Cross-modal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2432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model integrate cues from multiple modalities to derive answers not apparent in any single modality?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MMReason (ICCV 2025)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1284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12848"/>
            <a:ext cx="502920" cy="1234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21284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3042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Hallucination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62432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invent non-existent content? Measured via object existence, attribute, and relation hallucinations.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HallusionBench, POPE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02736"/>
            <a:ext cx="502920" cy="12344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602736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694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Robustness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01421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performance hold under adversarial inputs, image corruptions, or distribution shifts?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MME-RealWorld, MMTE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02736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02736"/>
            <a:ext cx="50292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602736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694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Domain Expertise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01421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specialized domains: medical imaging, document QA, chart understanding, remote sensing.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PathVQA, ChartQA, DocVQA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MME (NeurIPS 2025) · MMReason (ICCV 2025) · arXiv:2408.08632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Areas &amp; Attack Surfaces in MLLMs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54680" y="9326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3154680" y="932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Adversarial Image Patches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Imperceptible pixel perturbations cause misclassification or targeted incorrect outputs from vision encoders.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188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0" y="9326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BF00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932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Cross-modal Inconsistency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between modalities (e.g., text says 'cat' but image shows 'dog') can confuse or be exploited to override safety filters.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23042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Visual Jailbreaks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26517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harmful instructions directly in images bypasses text-based safety guardrails (e.g., typography in images).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06240" cy="1188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23042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B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Hallucination Exploitation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queries designed to elicit confident hallucinations, undermining trust in high-stakes applications (medical, legal).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36758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BF00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3675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OCR / Document Injection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" y="4023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embedded in documents or screenshots can hijack model behavior (prompt injection via image).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89520" y="36758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3675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Audio Adversarial Attacks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4023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audio perturbations can alter speech transcription or steer audio-language model outputs.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HallusionBench · MME-RealWorld · arXiv:2408.08632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Evaluation Benchmarks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4864" cy="59436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50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33856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1B998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33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NeurIPS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850392"/>
            <a:ext cx="1371600" cy="20116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850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Image+Text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85953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subtasks covering perception &amp; cognition with manual instruction-answer pairs to avoid data leakage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508760"/>
            <a:ext cx="54864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554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MME-RealWorld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837944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379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ICLR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65960" y="1554480"/>
            <a:ext cx="1371600" cy="20116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8" name="Text 16"/>
          <p:cNvSpPr/>
          <p:nvPr/>
        </p:nvSpPr>
        <p:spPr>
          <a:xfrm>
            <a:off x="1965960" y="1554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Image+Text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156362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scale, annotation quality &amp; task difficulty gaps in prior benchmarks; real-world grounding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12848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12848"/>
            <a:ext cx="54864" cy="59436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MMReason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54203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7B2F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42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ICCV 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65960" y="2258568"/>
            <a:ext cx="1371600" cy="20116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6" name="Text 24"/>
          <p:cNvSpPr/>
          <p:nvPr/>
        </p:nvSpPr>
        <p:spPr>
          <a:xfrm>
            <a:off x="1965960" y="2258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Image+Text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226771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multi-step reasoning; evaluates intermediate reasoning steps not just final answers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16936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16936"/>
            <a:ext cx="54864" cy="594360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962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Video-MME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2461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CVPR 2025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65960" y="2962656"/>
            <a:ext cx="1371600" cy="20116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4" name="Text 32"/>
          <p:cNvSpPr/>
          <p:nvPr/>
        </p:nvSpPr>
        <p:spPr>
          <a:xfrm>
            <a:off x="1965960" y="29626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Video+Text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297180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comprehensive video MLLM benchmark; tests temporal understanding &amp; long-range context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621024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621024"/>
            <a:ext cx="54864" cy="5943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6667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HallusionBench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950208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06D6A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9502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arXiv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65960" y="3666744"/>
            <a:ext cx="1371600" cy="20116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2" name="Text 40"/>
          <p:cNvSpPr/>
          <p:nvPr/>
        </p:nvSpPr>
        <p:spPr>
          <a:xfrm>
            <a:off x="1965960" y="36667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Image+Text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20440" y="367588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 designed to measure hallucination in visual QA through language-guided visual corruption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325112"/>
            <a:ext cx="54864" cy="59436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370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DocVQA / ChartQA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4654296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8899A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6542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Multiple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965960" y="4370832"/>
            <a:ext cx="1371600" cy="20116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0" name="Text 48"/>
          <p:cNvSpPr/>
          <p:nvPr/>
        </p:nvSpPr>
        <p:spPr>
          <a:xfrm>
            <a:off x="1965960" y="43708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Doc/Chart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520440" y="437997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and chart reasoning; critical for enterprise &amp; real-world deployments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Approaches &amp;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Automated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16152"/>
            <a:ext cx="3749040" cy="53035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Accuracy / Top-1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Correct answers on closed-ended VQA or classification tasks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3749040" cy="53035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CIDEr / SPICE / METEOR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Caption quality metrics measuring n-gram overlap with references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3749040" cy="53035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CHAIR Score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Measures hallucinated objects in generated captions (lower = better)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99232"/>
            <a:ext cx="3749040" cy="53035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Cross-modal Consistency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Semantic agreement between text output and visual input embedding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593592"/>
            <a:ext cx="3749040" cy="53035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Reasoning Trace Score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Correctness of intermediate reasoning steps (MMReason protocol)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187952"/>
            <a:ext cx="3749040" cy="53035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Adversarial Robustness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Accuracy under perturbations; Attack Success Rate for targeted attacks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777240"/>
            <a:ext cx="420624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 &amp; LLM-as-Judge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1216152"/>
            <a:ext cx="3931920" cy="658368"/>
          </a:xfrm>
          <a:prstGeom prst="rect">
            <a:avLst/>
          </a:prstGeom>
          <a:solidFill>
            <a:srgbClr val="F3EFF8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12344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BE"/>
                </a:solidFill>
              </a:rPr>
              <a:t>Human Preference Rating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Pairwise or Likert-scale ratings for open-ended generation quality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1965960"/>
            <a:ext cx="3931920" cy="65836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1984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BE"/>
                </a:solidFill>
              </a:rPr>
              <a:t>GPT-4V / Claude as Evaluator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LLM judges compare outputs for correctness, coherence, and relevance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715768"/>
            <a:ext cx="3931920" cy="658368"/>
          </a:xfrm>
          <a:prstGeom prst="rect">
            <a:avLst/>
          </a:prstGeom>
          <a:solidFill>
            <a:srgbClr val="F3EFF8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7340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BE"/>
                </a:solidFill>
              </a:rPr>
              <a:t>Inter-annotator Agreement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2962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Cohen's κ or Krippendorff's α to validate annotation reliability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465576"/>
            <a:ext cx="3931920" cy="65836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4838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BE"/>
                </a:solidFill>
              </a:rPr>
              <a:t>Faithfulness Evaluation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3712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Graders assess whether generated content is grounded in the visual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MME · MMReason · CHAIR · arXiv:2408.08632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 &amp; Future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76656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57200" cy="67665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Benchmark Saturation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15214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models now near-saturate many benchmarks. Dynamic, continuously-updated evaluation sets are needed.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8595360" cy="676656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0200"/>
            <a:ext cx="457200" cy="676656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0020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F00"/>
                </a:solidFill>
              </a:rPr>
              <a:t>Beyond Closed-set QA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94767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MCQ/binary tasks toward open-ended, multi-step, compositional reasoning evaluation.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8595360" cy="676656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95728"/>
            <a:ext cx="457200" cy="67665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39572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459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Temporal &amp; Long-context Video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7432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video benchmarks remain short; evaluating hour-long video reasoning is an unsolved challenge.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191256"/>
            <a:ext cx="8595360" cy="676656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191256"/>
            <a:ext cx="457200" cy="676656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1912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255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</a:rPr>
              <a:t>Safety &amp; Red-teaming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538728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adversarial and safety benchmarks for MLLMs analogous to LLM safety benchmarks are nascent.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986784"/>
            <a:ext cx="8595360" cy="676656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86784"/>
            <a:ext cx="457200" cy="67665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Efficient Evaluation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334256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comprehensive benchmarks is compute-intensive; smaller, representative proxy evaluations are needed.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Video-MME (CVPR 2025) · MMReason · arXiv:2408.08632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572000" cy="36576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01168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05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arXiv:2408.08632 — A Survey on Benchmarks of Multimodal Large Language Models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201168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081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 — A Comprehensive Evaluation Benchmark (NeurIPS 2025)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201168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105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Video-MME — First Comprehensive Benchmark for Video MLLMs (CVPR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201168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128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MME-RealWorld — Towards Real-World Evaluation (ICLR 2025)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201168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151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MMReason — Open-Ended Multimodal Multi-Step Reasoning (ICCV 2025)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01168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175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HallusionBench — Evaluating Hallucination in Multimodal LLMs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201168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198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swordlidev/Evaluation-Multimodal-LLMs-Survey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201168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221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BradyFU/Awesome-Multimodal-Large-Language-Models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53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Multimodal LLMs  |  Research Overview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Multimodal LLMs</dc:title>
  <dc:subject>PptxGenJS Presentation</dc:subject>
  <dc:creator>PptxGenJS</dc:creator>
  <cp:lastModifiedBy>PptxGenJS</cp:lastModifiedBy>
  <cp:revision>1</cp:revision>
  <dcterms:created xsi:type="dcterms:W3CDTF">2026-03-15T08:33:42Z</dcterms:created>
  <dcterms:modified xsi:type="dcterms:W3CDTF">2026-03-15T08:33:42Z</dcterms:modified>
</cp:coreProperties>
</file>