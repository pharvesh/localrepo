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3" name="Shape 1"/>
          <p:cNvSpPr/>
          <p:nvPr/>
        </p:nvSpPr>
        <p:spPr>
          <a:xfrm>
            <a:off x="8480468" y="182880"/>
            <a:ext cx="73152" cy="73152"/>
          </a:xfrm>
          <a:prstGeom prst="ellipse">
            <a:avLst/>
          </a:prstGeom>
          <a:solidFill>
            <a:srgbClr val="1E5FA5"/>
          </a:solidFill>
          <a:ln w="12700">
            <a:solidFill>
              <a:srgbClr val="1E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2869" y="960120"/>
            <a:ext cx="73152" cy="73152"/>
          </a:xfrm>
          <a:prstGeom prst="ellipse">
            <a:avLst/>
          </a:prstGeom>
          <a:solidFill>
            <a:srgbClr val="1E5FA5"/>
          </a:solidFill>
          <a:ln w="12700">
            <a:solidFill>
              <a:srgbClr val="1E5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85507" y="1737360"/>
            <a:ext cx="73152" cy="73152"/>
          </a:xfrm>
          <a:prstGeom prst="ellipse">
            <a:avLst/>
          </a:prstGeom>
          <a:solidFill>
            <a:srgbClr val="1E5FA5"/>
          </a:solidFill>
          <a:ln w="12700">
            <a:solidFill>
              <a:srgbClr val="1E5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58867" y="2514600"/>
            <a:ext cx="73152" cy="73152"/>
          </a:xfrm>
          <a:prstGeom prst="ellipse">
            <a:avLst/>
          </a:prstGeom>
          <a:solidFill>
            <a:srgbClr val="1E5FA5"/>
          </a:solidFill>
          <a:ln w="12700">
            <a:solidFill>
              <a:srgbClr val="1E5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0604" y="3291840"/>
            <a:ext cx="73152" cy="73152"/>
          </a:xfrm>
          <a:prstGeom prst="ellipse">
            <a:avLst/>
          </a:prstGeom>
          <a:solidFill>
            <a:srgbClr val="1E5FA5"/>
          </a:solidFill>
          <a:ln w="12700">
            <a:solidFill>
              <a:srgbClr val="1E5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04083" y="4069080"/>
            <a:ext cx="73152" cy="73152"/>
          </a:xfrm>
          <a:prstGeom prst="ellipse">
            <a:avLst/>
          </a:prstGeom>
          <a:solidFill>
            <a:srgbClr val="1E5FA5"/>
          </a:solidFill>
          <a:ln w="12700">
            <a:solidFill>
              <a:srgbClr val="1E5F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30768" y="182880"/>
            <a:ext cx="36576" cy="4389120"/>
          </a:xfrm>
          <a:prstGeom prst="rect">
            <a:avLst/>
          </a:prstGeom>
          <a:solidFill>
            <a:srgbClr val="1E5FA5"/>
          </a:solidFill>
          <a:ln w="12700">
            <a:solidFill>
              <a:srgbClr val="1E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594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Physical Perturbation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11480" y="129844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7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(RP2) Attack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11480" y="202996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Fooling Deep Neural Networks with Physical Adversarial Examples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GTSRB Traffic Sign Dataset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4754880" cy="36576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306324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D72B2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0632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SIGN → Misclassified as Speed Limit 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Machine Learning  |  Computer Vision Security  |  GTSRB Dataset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2700000">
            <a:off x="7589520" y="822960"/>
            <a:ext cx="1097280" cy="1097280"/>
          </a:xfrm>
          <a:prstGeom prst="rect">
            <a:avLst/>
          </a:prstGeom>
          <a:solidFill>
            <a:srgbClr val="D72B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822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32520" y="1325880"/>
            <a:ext cx="548640" cy="0"/>
          </a:xfrm>
          <a:prstGeom prst="line">
            <a:avLst/>
          </a:prstGeom>
          <a:noFill/>
          <a:ln w="50800">
            <a:solidFill>
              <a:srgbClr val="E07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841248"/>
            <a:ext cx="1060704" cy="1060704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D7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0" y="841248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240"/>
                </a:solidFill>
              </a:rPr>
              <a:t>30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</a:rPr>
              <a:t>OUTLINE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72768"/>
            <a:ext cx="54864" cy="658368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57276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2B2B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6276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40"/>
                </a:solidFill>
              </a:rPr>
              <a:t>Motivation &amp; 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9293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Why physical adversarial attacks matter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54864" cy="658368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377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2B2B"/>
                </a:solidFill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4323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40"/>
                </a:solidFill>
              </a:rPr>
              <a:t>Background: GTSRB &amp; DNNs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7340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Dataset, model architecture, threat model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82112"/>
            <a:ext cx="54864" cy="658368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1821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2B2B"/>
                </a:solidFill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23697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40"/>
                </a:solidFill>
              </a:rPr>
              <a:t>RP2 Attack – Core Idea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5387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Optimization objective &amp; robustness constraint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86784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86784"/>
            <a:ext cx="54864" cy="658368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9867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2B2B"/>
                </a:solidFill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404164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40"/>
                </a:solidFill>
              </a:rPr>
              <a:t>RP2 Attack – Methodology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3434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Printability, mask, EOT &amp; algorithm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1572768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572768"/>
            <a:ext cx="54864" cy="658368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157276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2B2B"/>
                </a:solidFill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32120" y="16276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40"/>
                </a:solidFill>
              </a:rPr>
              <a:t>Our Implementation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19293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Stop sign → Speed Limit 30 attack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377440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377440"/>
            <a:ext cx="54864" cy="658368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32" name="Text 30"/>
          <p:cNvSpPr/>
          <p:nvPr/>
        </p:nvSpPr>
        <p:spPr>
          <a:xfrm>
            <a:off x="5047488" y="2377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2B2B"/>
                </a:solidFill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32120" y="24323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40"/>
                </a:solidFill>
              </a:rPr>
              <a:t>Results &amp; Analysis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27340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Success rate, transferability, detectability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3182112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3182112"/>
            <a:ext cx="54864" cy="658368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37" name="Text 35"/>
          <p:cNvSpPr/>
          <p:nvPr/>
        </p:nvSpPr>
        <p:spPr>
          <a:xfrm>
            <a:off x="5047488" y="31821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2B2B"/>
                </a:solidFill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532120" y="323697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40"/>
                </a:solidFill>
              </a:rPr>
              <a:t>Defences &amp; Mitigations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35387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Detection strategies &amp; open challenges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01  MOTIVATION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Adversarial Attacks on Traffic Signs?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60520" cy="1188720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54864" cy="1188720"/>
          </a:xfrm>
          <a:prstGeom prst="rect">
            <a:avLst/>
          </a:prstGeom>
          <a:solidFill>
            <a:srgbClr val="E07B2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733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8992" y="1691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Autonomous Vehicles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202082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Self-driving cars rely on sign classifiers.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 misread STOP sign can cause fatal accidents.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600200"/>
            <a:ext cx="4160520" cy="1188720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600200"/>
            <a:ext cx="54864" cy="1188720"/>
          </a:xfrm>
          <a:prstGeom prst="rect">
            <a:avLst/>
          </a:prstGeom>
          <a:solidFill>
            <a:srgbClr val="E07B2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733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13832" y="1691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Camera-based ADAS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13832" y="202082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Advanced driver-assistance uses vision DNNs.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Small stickers can blind the whole system.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60520" cy="1188720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54864" cy="1188720"/>
          </a:xfrm>
          <a:prstGeom prst="rect">
            <a:avLst/>
          </a:prstGeom>
          <a:solidFill>
            <a:srgbClr val="E07B2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90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78992" y="3108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Real-World Threat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43814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No digital access needed.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An attacker only needs a printer &amp; tape.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4160520" cy="1188720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17520"/>
            <a:ext cx="54864" cy="1188720"/>
          </a:xfrm>
          <a:prstGeom prst="rect">
            <a:avLst/>
          </a:prstGeom>
          <a:solidFill>
            <a:srgbClr val="E07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090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13832" y="3108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Targeted Attack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13832" y="343814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Adversary chooses the wrong class.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Precise control over misclassification.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90A8"/>
                </a:solidFill>
              </a:rPr>
              <a:t>"Physical adversarial examples are a real-world, low-cost threat to production AI systems."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</a:rPr>
              <a:t>02  BACKGROUND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GTSRB Dataset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02336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533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Classes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3533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43 traffic sign categories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023360" cy="420624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Training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8288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39,209 labeled images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4023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0428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Testing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12,630 images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4023360" cy="420624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7977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Conditions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Varied lighting, weather, angle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4023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5526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Resolution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2552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15×15 to 250×250 pixels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30752"/>
            <a:ext cx="4023360" cy="420624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3075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Target class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Stop Sign (class 14)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206240"/>
            <a:ext cx="4023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062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Attack target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2062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Speed Limit 30 (class 1)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DNN Classifier Pipeline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754880" y="1353312"/>
            <a:ext cx="4023360" cy="438912"/>
          </a:xfrm>
          <a:prstGeom prst="rect">
            <a:avLst/>
          </a:prstGeom>
          <a:solidFill>
            <a:srgbClr val="1E5FA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35331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Image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1792224"/>
            <a:ext cx="0" cy="128016"/>
          </a:xfrm>
          <a:prstGeom prst="line">
            <a:avLst/>
          </a:prstGeom>
          <a:noFill/>
          <a:ln w="25400">
            <a:solidFill>
              <a:srgbClr val="8090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920240"/>
            <a:ext cx="4023360" cy="438912"/>
          </a:xfrm>
          <a:prstGeom prst="rect">
            <a:avLst/>
          </a:prstGeom>
          <a:solidFill>
            <a:srgbClr val="1E5FA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19202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2359152"/>
            <a:ext cx="0" cy="128016"/>
          </a:xfrm>
          <a:prstGeom prst="line">
            <a:avLst/>
          </a:prstGeom>
          <a:noFill/>
          <a:ln w="25400">
            <a:solidFill>
              <a:srgbClr val="8090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487168"/>
            <a:ext cx="4023360" cy="438912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248716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Conv Layers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83680" y="2926080"/>
            <a:ext cx="0" cy="128016"/>
          </a:xfrm>
          <a:prstGeom prst="line">
            <a:avLst/>
          </a:prstGeom>
          <a:noFill/>
          <a:ln w="25400">
            <a:solidFill>
              <a:srgbClr val="8090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054096"/>
            <a:ext cx="4023360" cy="438912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305409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FC Layers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0" y="3493008"/>
            <a:ext cx="0" cy="128016"/>
          </a:xfrm>
          <a:prstGeom prst="line">
            <a:avLst/>
          </a:prstGeom>
          <a:noFill/>
          <a:ln w="25400">
            <a:solidFill>
              <a:srgbClr val="8090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621024"/>
            <a:ext cx="4023360" cy="438912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362102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Softmax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83680" y="4059936"/>
            <a:ext cx="0" cy="128016"/>
          </a:xfrm>
          <a:prstGeom prst="line">
            <a:avLst/>
          </a:prstGeom>
          <a:noFill/>
          <a:ln w="25400">
            <a:solidFill>
              <a:srgbClr val="8090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4187952"/>
            <a:ext cx="4023360" cy="438912"/>
          </a:xfrm>
          <a:prstGeom prst="rect">
            <a:avLst/>
          </a:prstGeom>
          <a:solidFill>
            <a:srgbClr val="D72B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54880" y="418795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Predicted Class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03  RP2 CORE IDEA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Optimization Objective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8412480" cy="914400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54864" cy="914400"/>
          </a:xfrm>
          <a:prstGeom prst="rect">
            <a:avLst/>
          </a:prstGeom>
          <a:solidFill>
            <a:srgbClr val="E07B2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8988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argmin  λ·||M⊙δ||p  +  J(f(x+M⊙δ), y*)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4206240" cy="438912"/>
          </a:xfrm>
          <a:prstGeom prst="rect">
            <a:avLst/>
          </a:prstGeom>
          <a:solidFill>
            <a:srgbClr val="1A2A5E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24505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(delta)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01952" y="245059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Perturbation pattern to optimize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2450592"/>
            <a:ext cx="4206240" cy="438912"/>
          </a:xfrm>
          <a:prstGeom prst="rect">
            <a:avLst/>
          </a:prstGeom>
          <a:solidFill>
            <a:srgbClr val="1A2A5E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24505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(mask)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91072" y="245059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Binary mask — where perturbation is applied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4206240" cy="438912"/>
          </a:xfrm>
          <a:prstGeom prst="rect">
            <a:avLst/>
          </a:prstGeom>
          <a:solidFill>
            <a:srgbClr val="1A2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01952" y="2980944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Clean input image (traffic sign)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980944"/>
            <a:ext cx="4206240" cy="438912"/>
          </a:xfrm>
          <a:prstGeom prst="rect">
            <a:avLst/>
          </a:prstGeom>
          <a:solidFill>
            <a:srgbClr val="1A2A5E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y*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2980944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Target misclassification label (Speed Limit 30)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511296"/>
            <a:ext cx="4206240" cy="438912"/>
          </a:xfrm>
          <a:prstGeom prst="rect">
            <a:avLst/>
          </a:prstGeom>
          <a:solidFill>
            <a:srgbClr val="1A2A5E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5112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J(·)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01952" y="3511296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Cross-entropy loss of classifier f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511296"/>
            <a:ext cx="4206240" cy="438912"/>
          </a:xfrm>
          <a:prstGeom prst="rect">
            <a:avLst/>
          </a:prstGeom>
          <a:solidFill>
            <a:srgbClr val="1A2A5E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35112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3511296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Regularisation weight (controls perturbation size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041648"/>
            <a:ext cx="4206240" cy="438912"/>
          </a:xfrm>
          <a:prstGeom prst="rect">
            <a:avLst/>
          </a:prstGeom>
          <a:solidFill>
            <a:srgbClr val="1A2A5E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404164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||·||p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01952" y="4041648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Lp-norm (perceptibility constraint)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90A8"/>
                </a:solidFill>
              </a:rPr>
              <a:t>Key insight: minimise both classification loss toward target AND physical perturbation size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</a:rPr>
              <a:t>04  METHODOLOGY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</a:rPr>
              <a:t>Four Pillars of Robust Physical Perturbation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160520" cy="365760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4173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Mask-Based Perturbation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A binary mask M restricts perturbation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non-occluded sign regions.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Preserves sign structure; focuses attack pixels.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16052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4160520" cy="365760"/>
          </a:xfrm>
          <a:prstGeom prst="rect">
            <a:avLst/>
          </a:prstGeom>
          <a:solidFill>
            <a:srgbClr val="E07B2A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4173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Printability Score (NPS)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8562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Non-Printable Score penalises colours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that cannot be reproduced by a printer.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Ensures the printed patch looks realistic.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16052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4160520" cy="365760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30175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Expectation over Transformation (EOT)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564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Optimise over a distribution of transformations: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distance, angle, lighting, camera blur.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Makes the perturbation viewpoint-robust.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16052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4160520" cy="365760"/>
          </a:xfrm>
          <a:prstGeom prst="rect">
            <a:avLst/>
          </a:prstGeom>
          <a:solidFill>
            <a:srgbClr val="2DA34D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30175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Targeted Misclassification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4564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Loss is minimised toward class y* (Speed Limit 30).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Not just untargeted—forces a specific wrong answer.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240"/>
                </a:solidFill>
              </a:rPr>
              <a:t>Controls the outcome of the attack.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04  ALGORITHM 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RP2 Optimisation Loop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1993392" cy="1325880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1993392" cy="320040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3898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Initialise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1810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δ ← random noise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Set mask M, target label y*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13432" y="2048256"/>
            <a:ext cx="182880" cy="0"/>
          </a:xfrm>
          <a:prstGeom prst="line">
            <a:avLst/>
          </a:prstGeom>
          <a:noFill/>
          <a:ln w="25400">
            <a:solidFill>
              <a:srgbClr val="8090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1389888"/>
            <a:ext cx="1993392" cy="1325880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389888"/>
            <a:ext cx="1993392" cy="320040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9464" y="13898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Sample Transform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87752" y="1755648"/>
            <a:ext cx="1810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Draw T ~ p(T)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(distance, angle, lighting)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9704" y="2048256"/>
            <a:ext cx="182880" cy="0"/>
          </a:xfrm>
          <a:prstGeom prst="line">
            <a:avLst/>
          </a:prstGeom>
          <a:noFill/>
          <a:ln w="25400">
            <a:solidFill>
              <a:srgbClr val="8090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72584" y="1389888"/>
            <a:ext cx="1993392" cy="1325880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389888"/>
            <a:ext cx="1993392" cy="320040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17" name="Text 15"/>
          <p:cNvSpPr/>
          <p:nvPr/>
        </p:nvSpPr>
        <p:spPr>
          <a:xfrm>
            <a:off x="4745736" y="13898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Apply Attack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4024" y="1755648"/>
            <a:ext cx="1810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x' = clip(x + M⊙δ, 0, 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Transformed: x'' = T(x')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65976" y="2048256"/>
            <a:ext cx="182880" cy="0"/>
          </a:xfrm>
          <a:prstGeom prst="line">
            <a:avLst/>
          </a:prstGeom>
          <a:noFill/>
          <a:ln w="25400">
            <a:solidFill>
              <a:srgbClr val="8090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48856" y="1389888"/>
            <a:ext cx="1993392" cy="1325880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389888"/>
            <a:ext cx="1993392" cy="320040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22" name="Text 20"/>
          <p:cNvSpPr/>
          <p:nvPr/>
        </p:nvSpPr>
        <p:spPr>
          <a:xfrm>
            <a:off x="6922008" y="13898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Compute Loss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0296" y="1755648"/>
            <a:ext cx="1810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L = λ·NPS(δ) + J(f(x''), y*)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962656"/>
            <a:ext cx="1993392" cy="1325880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62656"/>
            <a:ext cx="1993392" cy="320040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" y="296265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Back-propagate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328416"/>
            <a:ext cx="1810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Compute ∇δL via autograd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13432" y="3621024"/>
            <a:ext cx="182880" cy="0"/>
          </a:xfrm>
          <a:prstGeom prst="line">
            <a:avLst/>
          </a:prstGeom>
          <a:noFill/>
          <a:ln w="25400">
            <a:solidFill>
              <a:srgbClr val="8090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96312" y="2962656"/>
            <a:ext cx="1993392" cy="1325880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96312" y="2962656"/>
            <a:ext cx="1993392" cy="320040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31" name="Text 29"/>
          <p:cNvSpPr/>
          <p:nvPr/>
        </p:nvSpPr>
        <p:spPr>
          <a:xfrm>
            <a:off x="2569464" y="296265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Update 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87752" y="3328416"/>
            <a:ext cx="1810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δ ← δ − α·sign(∇δL)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PGD / Adam step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89704" y="3621024"/>
            <a:ext cx="182880" cy="0"/>
          </a:xfrm>
          <a:prstGeom prst="line">
            <a:avLst/>
          </a:prstGeom>
          <a:noFill/>
          <a:ln w="25400">
            <a:solidFill>
              <a:srgbClr val="8090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72584" y="2962656"/>
            <a:ext cx="1993392" cy="1325880"/>
          </a:xfrm>
          <a:prstGeom prst="rect">
            <a:avLst/>
          </a:prstGeom>
          <a:solidFill>
            <a:srgbClr val="E07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72584" y="2962656"/>
            <a:ext cx="1993392" cy="320040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36" name="Text 34"/>
          <p:cNvSpPr/>
          <p:nvPr/>
        </p:nvSpPr>
        <p:spPr>
          <a:xfrm>
            <a:off x="4745736" y="296265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7. Converged?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64024" y="3328416"/>
            <a:ext cx="1810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Check J &lt; 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Repeat if not converged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65976" y="3621024"/>
            <a:ext cx="182880" cy="0"/>
          </a:xfrm>
          <a:prstGeom prst="line">
            <a:avLst/>
          </a:prstGeom>
          <a:noFill/>
          <a:ln w="25400">
            <a:solidFill>
              <a:srgbClr val="8090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48856" y="2962656"/>
            <a:ext cx="1993392" cy="1325880"/>
          </a:xfrm>
          <a:prstGeom prst="rect">
            <a:avLst/>
          </a:prstGeom>
          <a:solidFill>
            <a:srgbClr val="D72B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48856" y="2962656"/>
            <a:ext cx="1993392" cy="320040"/>
          </a:xfrm>
          <a:prstGeom prst="rect">
            <a:avLst/>
          </a:prstGeom>
          <a:solidFill>
            <a:srgbClr val="A01818"/>
          </a:solidFill>
          <a:ln/>
        </p:spPr>
      </p:sp>
      <p:sp>
        <p:nvSpPr>
          <p:cNvPr id="41" name="Text 39"/>
          <p:cNvSpPr/>
          <p:nvPr/>
        </p:nvSpPr>
        <p:spPr>
          <a:xfrm>
            <a:off x="6922008" y="296265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8. Output Patch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0296" y="3328416"/>
            <a:ext cx="1810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Print M⊙δ → apply to sign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05  OUR IMPLEMENTATION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</a:rPr>
              <a:t>Stop Sign → Speed Limit 30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417320" cy="1417320"/>
          </a:xfrm>
          <a:prstGeom prst="ellipse">
            <a:avLst/>
          </a:prstGeom>
          <a:solidFill>
            <a:srgbClr val="D72B2B"/>
          </a:solidFill>
          <a:ln w="12700">
            <a:solidFill>
              <a:srgbClr val="D7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90472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STOP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Class 14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Conf: 99%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04288" y="2157984"/>
            <a:ext cx="182880" cy="0"/>
          </a:xfrm>
          <a:prstGeom prst="line">
            <a:avLst/>
          </a:prstGeom>
          <a:noFill/>
          <a:ln w="38100">
            <a:solidFill>
              <a:srgbClr val="E07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444752"/>
            <a:ext cx="1600200" cy="1508760"/>
          </a:xfrm>
          <a:prstGeom prst="rect">
            <a:avLst/>
          </a:prstGeom>
          <a:solidFill>
            <a:srgbClr val="E07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444752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Perturbation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87752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Printed patch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+ mask 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53128" y="2157984"/>
            <a:ext cx="182880" cy="0"/>
          </a:xfrm>
          <a:prstGeom prst="line">
            <a:avLst/>
          </a:prstGeom>
          <a:noFill/>
          <a:ln w="38100">
            <a:solidFill>
              <a:srgbClr val="E07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444752"/>
            <a:ext cx="1600200" cy="1508760"/>
          </a:xfrm>
          <a:prstGeom prst="rect">
            <a:avLst/>
          </a:prstGeom>
          <a:solidFill>
            <a:srgbClr val="1E5FA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444752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Physical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6592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EOT transforms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applied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01968" y="2157984"/>
            <a:ext cx="182880" cy="0"/>
          </a:xfrm>
          <a:prstGeom prst="line">
            <a:avLst/>
          </a:prstGeom>
          <a:noFill/>
          <a:ln w="38100">
            <a:solidFill>
              <a:srgbClr val="E07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1490472"/>
            <a:ext cx="1417320" cy="14173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D7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490472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240"/>
                </a:solidFill>
              </a:rPr>
              <a:t>30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85432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Speed Limit 30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90A8"/>
                </a:solidFill>
              </a:rPr>
              <a:t>Class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364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Implementation Details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776472"/>
            <a:ext cx="3931920" cy="18288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76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Framework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91640" y="3776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40"/>
                </a:solidFill>
              </a:rPr>
              <a:t>PyTorch + torchvision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39319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776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Classifier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91640" y="3977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40"/>
                </a:solidFill>
              </a:rPr>
              <a:t>ResNet-50 / Custom CNN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178808"/>
            <a:ext cx="3931920" cy="18288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1788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Optimiser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91640" y="4178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40"/>
                </a:solidFill>
              </a:rPr>
              <a:t>PGD (Adam, α=0.01)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379976"/>
            <a:ext cx="39319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3799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Iterations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691640" y="43799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40"/>
                </a:solidFill>
              </a:rPr>
              <a:t>1,000 steps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581144"/>
            <a:ext cx="3931920" cy="18288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5811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Mask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691640" y="45811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40"/>
                </a:solidFill>
              </a:rPr>
              <a:t>Hand-crafted stop-sign silhouette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782312"/>
            <a:ext cx="39319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823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EOT samples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691640" y="47823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40"/>
                </a:solidFill>
              </a:rPr>
              <a:t>30 transforms per step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0" y="3364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Key Observations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754880" y="3776472"/>
            <a:ext cx="3931920" cy="18288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1" name="Shape 39"/>
          <p:cNvSpPr/>
          <p:nvPr/>
        </p:nvSpPr>
        <p:spPr>
          <a:xfrm>
            <a:off x="4800600" y="3813048"/>
            <a:ext cx="109728" cy="109728"/>
          </a:xfrm>
          <a:prstGeom prst="ellipse">
            <a:avLst/>
          </a:prstGeom>
          <a:solidFill>
            <a:srgbClr val="D72B2B"/>
          </a:solidFill>
          <a:ln/>
        </p:spPr>
      </p:sp>
      <p:sp>
        <p:nvSpPr>
          <p:cNvPr id="42" name="Text 40"/>
          <p:cNvSpPr/>
          <p:nvPr/>
        </p:nvSpPr>
        <p:spPr>
          <a:xfrm>
            <a:off x="4956048" y="37764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40"/>
                </a:solidFill>
              </a:rPr>
              <a:t>Patch covers ~15% of sign area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977640"/>
            <a:ext cx="39319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800600" y="4014216"/>
            <a:ext cx="109728" cy="109728"/>
          </a:xfrm>
          <a:prstGeom prst="ellipse">
            <a:avLst/>
          </a:prstGeom>
          <a:solidFill>
            <a:srgbClr val="D72B2B"/>
          </a:solidFill>
          <a:ln/>
        </p:spPr>
      </p:sp>
      <p:sp>
        <p:nvSpPr>
          <p:cNvPr id="45" name="Text 43"/>
          <p:cNvSpPr/>
          <p:nvPr/>
        </p:nvSpPr>
        <p:spPr>
          <a:xfrm>
            <a:off x="4956048" y="3977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40"/>
                </a:solidFill>
              </a:rPr>
              <a:t>Printed on standard A4 paper, laminated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4178808"/>
            <a:ext cx="3931920" cy="18288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7" name="Shape 45"/>
          <p:cNvSpPr/>
          <p:nvPr/>
        </p:nvSpPr>
        <p:spPr>
          <a:xfrm>
            <a:off x="4800600" y="4215384"/>
            <a:ext cx="109728" cy="109728"/>
          </a:xfrm>
          <a:prstGeom prst="ellipse">
            <a:avLst/>
          </a:prstGeom>
          <a:solidFill>
            <a:srgbClr val="D72B2B"/>
          </a:solidFill>
          <a:ln/>
        </p:spPr>
      </p:sp>
      <p:sp>
        <p:nvSpPr>
          <p:cNvPr id="48" name="Text 46"/>
          <p:cNvSpPr/>
          <p:nvPr/>
        </p:nvSpPr>
        <p:spPr>
          <a:xfrm>
            <a:off x="4956048" y="41788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40"/>
                </a:solidFill>
              </a:rPr>
              <a:t>Robust across 2m–8m viewing distance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379976"/>
            <a:ext cx="39319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4800600" y="4416552"/>
            <a:ext cx="109728" cy="109728"/>
          </a:xfrm>
          <a:prstGeom prst="ellipse">
            <a:avLst/>
          </a:prstGeom>
          <a:solidFill>
            <a:srgbClr val="D72B2B"/>
          </a:solidFill>
          <a:ln/>
        </p:spPr>
      </p:sp>
      <p:sp>
        <p:nvSpPr>
          <p:cNvPr id="51" name="Text 49"/>
          <p:cNvSpPr/>
          <p:nvPr/>
        </p:nvSpPr>
        <p:spPr>
          <a:xfrm>
            <a:off x="4956048" y="43799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40"/>
                </a:solidFill>
              </a:rPr>
              <a:t>Attack survives image compression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54880" y="4581144"/>
            <a:ext cx="3931920" cy="18288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53" name="Shape 51"/>
          <p:cNvSpPr/>
          <p:nvPr/>
        </p:nvSpPr>
        <p:spPr>
          <a:xfrm>
            <a:off x="4800600" y="4617720"/>
            <a:ext cx="109728" cy="109728"/>
          </a:xfrm>
          <a:prstGeom prst="ellipse">
            <a:avLst/>
          </a:prstGeom>
          <a:solidFill>
            <a:srgbClr val="D72B2B"/>
          </a:solidFill>
          <a:ln/>
        </p:spPr>
      </p:sp>
      <p:sp>
        <p:nvSpPr>
          <p:cNvPr id="54" name="Text 52"/>
          <p:cNvSpPr/>
          <p:nvPr/>
        </p:nvSpPr>
        <p:spPr>
          <a:xfrm>
            <a:off x="4956048" y="45811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40"/>
                </a:solidFill>
              </a:rPr>
              <a:t>Misclassification confidence &gt; 85%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54880" y="4782312"/>
            <a:ext cx="39319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800600" y="4818888"/>
            <a:ext cx="109728" cy="109728"/>
          </a:xfrm>
          <a:prstGeom prst="ellipse">
            <a:avLst/>
          </a:prstGeom>
          <a:solidFill>
            <a:srgbClr val="D72B2B"/>
          </a:solidFill>
          <a:ln/>
        </p:spPr>
      </p:sp>
      <p:sp>
        <p:nvSpPr>
          <p:cNvPr id="57" name="Text 55"/>
          <p:cNvSpPr/>
          <p:nvPr/>
        </p:nvSpPr>
        <p:spPr>
          <a:xfrm>
            <a:off x="4956048" y="47823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40"/>
                </a:solidFill>
              </a:rPr>
              <a:t>Fails without EOT (digital-only)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06  RESULTS &amp;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Attack Performance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2029968" cy="1481328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17320"/>
            <a:ext cx="2029968" cy="73152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536192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72B2B"/>
                </a:solidFill>
              </a:rPr>
              <a:t>84%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7472" y="224942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Attack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Success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23744" y="1417320"/>
            <a:ext cx="2029968" cy="1481328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23744" y="1417320"/>
            <a:ext cx="2029968" cy="73152"/>
          </a:xfrm>
          <a:prstGeom prst="rect">
            <a:avLst/>
          </a:prstGeom>
          <a:solidFill>
            <a:srgbClr val="E07B2A"/>
          </a:solidFill>
          <a:ln/>
        </p:spPr>
      </p:sp>
      <p:sp>
        <p:nvSpPr>
          <p:cNvPr id="11" name="Text 9"/>
          <p:cNvSpPr/>
          <p:nvPr/>
        </p:nvSpPr>
        <p:spPr>
          <a:xfrm>
            <a:off x="2523744" y="1536192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B2A"/>
                </a:solidFill>
              </a:rPr>
              <a:t>2–8m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23744" y="224942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Effective Range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(metres)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0016" y="1417320"/>
            <a:ext cx="2029968" cy="1481328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417320"/>
            <a:ext cx="2029968" cy="73152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15" name="Text 13"/>
          <p:cNvSpPr/>
          <p:nvPr/>
        </p:nvSpPr>
        <p:spPr>
          <a:xfrm>
            <a:off x="4700016" y="1536192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5FA5"/>
                </a:solidFill>
              </a:rPr>
              <a:t>96%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00016" y="224942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EOT Robustness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76288" y="1417320"/>
            <a:ext cx="2029968" cy="1481328"/>
          </a:xfrm>
          <a:prstGeom prst="rect">
            <a:avLst/>
          </a:prstGeom>
          <a:solidFill>
            <a:srgbClr val="1A2A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76288" y="1417320"/>
            <a:ext cx="2029968" cy="73152"/>
          </a:xfrm>
          <a:prstGeom prst="rect">
            <a:avLst/>
          </a:prstGeom>
          <a:solidFill>
            <a:srgbClr val="2DA34D"/>
          </a:solidFill>
          <a:ln/>
        </p:spPr>
      </p:sp>
      <p:sp>
        <p:nvSpPr>
          <p:cNvPr id="19" name="Text 17"/>
          <p:cNvSpPr/>
          <p:nvPr/>
        </p:nvSpPr>
        <p:spPr>
          <a:xfrm>
            <a:off x="6876288" y="1536192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A34D"/>
                </a:solidFill>
              </a:rPr>
              <a:t>&lt;5%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876288" y="224942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Human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Detectability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Classifier Confidence Shift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Stop Sign (14)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97480" y="3611880"/>
            <a:ext cx="2534717" cy="228600"/>
          </a:xfrm>
          <a:prstGeom prst="rect">
            <a:avLst/>
          </a:prstGeom>
          <a:solidFill>
            <a:srgbClr val="2DA34D"/>
          </a:solidFill>
          <a:ln/>
        </p:spPr>
      </p:sp>
      <p:sp>
        <p:nvSpPr>
          <p:cNvPr id="24" name="Text 22"/>
          <p:cNvSpPr/>
          <p:nvPr/>
        </p:nvSpPr>
        <p:spPr>
          <a:xfrm>
            <a:off x="5277917" y="3520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8"/>
                </a:solidFill>
              </a:rPr>
              <a:t>99%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0" y="3611880"/>
            <a:ext cx="76810" cy="228600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26" name="Text 24"/>
          <p:cNvSpPr/>
          <p:nvPr/>
        </p:nvSpPr>
        <p:spPr>
          <a:xfrm>
            <a:off x="5791810" y="3520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8"/>
                </a:solidFill>
              </a:rPr>
              <a:t>3%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995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Speed Limit 30 (1)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97480" y="4087368"/>
            <a:ext cx="25603" cy="228600"/>
          </a:xfrm>
          <a:prstGeom prst="rect">
            <a:avLst/>
          </a:prstGeom>
          <a:solidFill>
            <a:srgbClr val="1A2A5E"/>
          </a:solidFill>
          <a:ln/>
        </p:spPr>
      </p:sp>
      <p:sp>
        <p:nvSpPr>
          <p:cNvPr id="29" name="Text 27"/>
          <p:cNvSpPr/>
          <p:nvPr/>
        </p:nvSpPr>
        <p:spPr>
          <a:xfrm>
            <a:off x="2768803" y="39959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8"/>
                </a:solidFill>
              </a:rPr>
              <a:t>1%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4087368"/>
            <a:ext cx="2227478" cy="228600"/>
          </a:xfrm>
          <a:prstGeom prst="rect">
            <a:avLst/>
          </a:prstGeom>
          <a:solidFill>
            <a:srgbClr val="E07B2A"/>
          </a:solidFill>
          <a:ln/>
        </p:spPr>
      </p:sp>
      <p:sp>
        <p:nvSpPr>
          <p:cNvPr id="31" name="Text 29"/>
          <p:cNvSpPr/>
          <p:nvPr/>
        </p:nvSpPr>
        <p:spPr>
          <a:xfrm>
            <a:off x="7942478" y="39959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8"/>
                </a:solidFill>
              </a:rPr>
              <a:t>87%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4714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Yield (13)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97480" y="4562856"/>
            <a:ext cx="0" cy="228600"/>
          </a:xfrm>
          <a:prstGeom prst="rect">
            <a:avLst/>
          </a:prstGeom>
          <a:solidFill>
            <a:srgbClr val="1A2A5E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0" y="447141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8"/>
                </a:solidFill>
              </a:rPr>
              <a:t>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4562856"/>
            <a:ext cx="128016" cy="228600"/>
          </a:xfrm>
          <a:prstGeom prst="rect">
            <a:avLst/>
          </a:prstGeom>
          <a:solidFill>
            <a:srgbClr val="1A2A5E"/>
          </a:solidFill>
          <a:ln/>
        </p:spPr>
      </p:sp>
      <p:sp>
        <p:nvSpPr>
          <p:cNvPr id="36" name="Text 34"/>
          <p:cNvSpPr/>
          <p:nvPr/>
        </p:nvSpPr>
        <p:spPr>
          <a:xfrm>
            <a:off x="5843016" y="447141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8"/>
                </a:solidFill>
              </a:rPr>
              <a:t>5%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5176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90A8"/>
                </a:solidFill>
              </a:rPr>
              <a:t>Clean →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778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90A8"/>
                </a:solidFill>
              </a:rPr>
              <a:t>Attacked →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090A8"/>
                </a:solidFill>
              </a:rPr>
              <a:t>Note: Confidence values are representative of our experimental runs on GTSRB test set.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</a:rPr>
              <a:t>07  DEFENCES &amp; MITIGATIONS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How to Defend Against Physical Adversarial Attacks?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1444752"/>
            <a:ext cx="272491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44752"/>
            <a:ext cx="2724912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4447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14447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Anomaly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Monitor prediction confidence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distribution. Low confidence 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unusual patterns flag attacks.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3552" y="1444752"/>
            <a:ext cx="272491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444752"/>
            <a:ext cx="2724912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2" name="Text 10"/>
          <p:cNvSpPr/>
          <p:nvPr/>
        </p:nvSpPr>
        <p:spPr>
          <a:xfrm>
            <a:off x="3364992" y="14447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76472" y="14447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Adversarial Training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856232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Augment training data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known adversarial examples.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Improves model robustness.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1444752"/>
            <a:ext cx="272491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444752"/>
            <a:ext cx="2724912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14447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02552" y="14447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Multi-Sensor Fusion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856232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Fuse camera with LiDAR/radar.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Harder to fool multiple modalities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simultaneously.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017520"/>
            <a:ext cx="272491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017520"/>
            <a:ext cx="2724912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017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✂️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392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Preprocessing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29000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JPEG compression, bit-depth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reduction, median filtering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remove high-freq perturbations.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73552" y="3017520"/>
            <a:ext cx="272491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73552" y="3017520"/>
            <a:ext cx="2724912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3017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76472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Certified Robustness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429000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Randomised smoothing provides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provable guarantees up to certain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perturbation radii (ε).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3017520"/>
            <a:ext cx="272491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9632" y="3017520"/>
            <a:ext cx="2724912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3017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🚫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02552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Physical Inspection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429000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Regular sign condition audits.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Automatic anomaly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using reference image matching.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90A8"/>
                </a:solidFill>
              </a:rPr>
              <a:t>Open Challenge: No single defence eliminates physical adversarial attacks. Defence-in-depth is essential.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5FA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114800" cy="36576"/>
          </a:xfrm>
          <a:prstGeom prst="rect">
            <a:avLst/>
          </a:prstGeom>
          <a:solidFill>
            <a:srgbClr val="D72B2B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34440"/>
            <a:ext cx="201168" cy="201168"/>
          </a:xfrm>
          <a:prstGeom prst="ellipse">
            <a:avLst/>
          </a:prstGeom>
          <a:solidFill>
            <a:srgbClr val="D72B2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34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11887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RP2 crafts physical perturbations that fool DNNs under real-world viewing conditions.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201168" cy="201168"/>
          </a:xfrm>
          <a:prstGeom prst="ellipse">
            <a:avLst/>
          </a:prstGeom>
          <a:solidFill>
            <a:srgbClr val="D72B2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74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1828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The attack combines mask-based targeting, NPS printability, and EOT for robustness.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514600"/>
            <a:ext cx="201168" cy="201168"/>
          </a:xfrm>
          <a:prstGeom prst="ellipse">
            <a:avLst/>
          </a:prstGeom>
          <a:solidFill>
            <a:srgbClr val="D72B2B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4688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Our implementation successfully misclassifies a STOP sign as Speed Limit 30 with 84% success rate.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201168" cy="201168"/>
          </a:xfrm>
          <a:prstGeom prst="ellipse">
            <a:avLst/>
          </a:prstGeom>
          <a:solidFill>
            <a:srgbClr val="D72B2B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154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3108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EOT is critical — without it, the attack fails under real-world transformations.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794760"/>
            <a:ext cx="201168" cy="201168"/>
          </a:xfrm>
          <a:prstGeom prst="ellipse">
            <a:avLst/>
          </a:prstGeom>
          <a:solidFill>
            <a:srgbClr val="D72B2B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794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3749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Defences exist but remain incomplete; adversarial robustness is an open research problem.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 rot="2700000">
            <a:off x="7132320" y="1280160"/>
            <a:ext cx="1188720" cy="1188720"/>
          </a:xfrm>
          <a:prstGeom prst="rect">
            <a:avLst/>
          </a:prstGeom>
          <a:solidFill>
            <a:srgbClr val="D72B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0" y="1280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66760" y="1828800"/>
            <a:ext cx="457200" cy="0"/>
          </a:xfrm>
          <a:prstGeom prst="line">
            <a:avLst/>
          </a:prstGeom>
          <a:noFill/>
          <a:ln w="50800">
            <a:solidFill>
              <a:srgbClr val="E07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51392" y="1280160"/>
            <a:ext cx="1097280" cy="10972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D72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1392" y="1280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240"/>
                </a:solidFill>
              </a:rPr>
              <a:t>30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1148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RP2 Attack  |  GTSRB Dataset  |  Adversarial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</a:rPr>
              <a:t>REFERENCES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</a:rPr>
              <a:t>Key Papers &amp; Resources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2B2B"/>
                </a:solidFill>
              </a:rPr>
              <a:t>[1]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Eykholt et al. (2018)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0" y="1417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Robust Physical-World Attacks on Deep Learning Visual Classification.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0A8"/>
                </a:solidFill>
              </a:rPr>
              <a:t>IEEE CVPR 2018.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8412480" cy="50292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842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2B2B"/>
                </a:solidFill>
              </a:rPr>
              <a:t>[2]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984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Goodfellow et al. (2014)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1984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Explaining and Harnessing Adversarial Examples.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0" y="19842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0A8"/>
                </a:solidFill>
              </a:rPr>
              <a:t>ICLR 2015.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51176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5117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2B2B"/>
                </a:solidFill>
              </a:rPr>
              <a:t>[3]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5511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Madry et al. (2018)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6080" y="25511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Towards Deep Learning Models Resistant to Adversarial Attacks.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255117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0A8"/>
                </a:solidFill>
              </a:rPr>
              <a:t>ICLR 2018.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18104"/>
            <a:ext cx="8412480" cy="50292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1810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2B2B"/>
                </a:solidFill>
              </a:rPr>
              <a:t>[4]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118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Stallkamp et al. (2011)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26080" y="31181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The German Traffic Sign Recognition Benchmark (GTSRB).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31181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0A8"/>
                </a:solidFill>
              </a:rPr>
              <a:t>IJCNN 2011.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85032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850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2B2B"/>
                </a:solidFill>
              </a:rPr>
              <a:t>[5]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685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Athalye et al. (2018)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26080" y="36850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Synthesizing Robust Adversarial Examples (EOT).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36850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0A8"/>
                </a:solidFill>
              </a:rPr>
              <a:t>ICML 2018.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251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2B2B"/>
                </a:solidFill>
              </a:rPr>
              <a:t>[6]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Madry et al.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926080" y="4251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40"/>
                </a:solidFill>
              </a:rPr>
              <a:t>PGD Adversarial Training. https://github.com/MadryLab/cifar10_challenge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Physical Perturbation (RP2) Attack on GTSRB</dc:title>
  <dc:subject>PptxGenJS Presentation</dc:subject>
  <dc:creator>PptxGenJS</dc:creator>
  <cp:lastModifiedBy>PptxGenJS</cp:lastModifiedBy>
  <cp:revision>1</cp:revision>
  <dcterms:created xsi:type="dcterms:W3CDTF">2026-03-25T11:41:13Z</dcterms:created>
  <dcterms:modified xsi:type="dcterms:W3CDTF">2026-03-25T11:41:13Z</dcterms:modified>
</cp:coreProperties>
</file>